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64d8b10b-21da-3e82-f020-90b761c6fb98}">
          <p14:sldIdLst>
            <p14:sldId id="256"/>
          </p14:sldIdLst>
        </p14:section>
        <p14:section name="洞察" id="{e517fb29-29f7-c147-5ce5-9c5e76e5e37e}">
          <p14:sldIdLst>
            <p14:sldId id="257"/>
          </p14:sldIdLst>
        </p14:section>
        <p14:section name="方案" id="{a1eab41c-eef7-aeb2-db06-8e55e1efd0cd}">
          <p14:sldIdLst>
            <p14:sldId id="258"/>
          </p14:sldIdLst>
        </p14:section>
        <p14:section name="技术" id="{6c8c8952-2309-afe0-a2f8-5e1d1592a65c}">
          <p14:sldIdLst>
            <p14:sldId id="259"/>
            <p14:sldId id="260"/>
          </p14:sldIdLst>
        </p14:section>
        <p14:section name="传播" id="{bfbc3796-00ea-710e-d7e4-335cb06cbb76}">
          <p14:sldIdLst>
            <p14:sldId id="261"/>
            <p14:sldId id="262"/>
          </p14:sldIdLst>
        </p14:section>
        <p14:section name="完成度" id="{ba1580b2-517e-3a3a-1504-e14e542e0d31}">
          <p14:sldIdLst>
            <p14:sldId id="263"/>
          </p14:sldIdLst>
        </p14:section>
        <p14:section name="价值" id="{7be62798-e70c-edea-e42a-ddb1cbcfa505}">
          <p14:sldIdLst>
            <p14:sldId id="264"/>
            <p14:sldId id="265"/>
          </p14:sldIdLst>
        </p14:section>
        <p14:section name="结尾" id="{d6509072-9a0d-707e-19ae-63a259d2e4dd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4F5F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4F5F7"/>
                </a:solidFill>
                <a:latin typeface="+mn-lt"/>
              </a:rPr>
              <a:t>实测：开启后歌曲与脚步的相位差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相位差（毫秒）</c:v>
                </c:pt>
              </c:strCache>
            </c:strRef>
          </c:tx>
          <c:spPr>
            <a:solidFill>
              <a:srgbClr val="D2F76A"/>
            </a:solidFill>
            <a:ln w="38100" cap="flat">
              <a:solidFill>
                <a:srgbClr val="D2F76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5F7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D2F76A"/>
              </a:solidFill>
              <a:ln w="9525" cap="flat">
                <a:solidFill>
                  <a:srgbClr val="D2F7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5 秒</c:v>
                  </c:pt>
                  <c:pt idx="1">
                    <c:v>7.5 秒</c:v>
                  </c:pt>
                  <c:pt idx="2">
                    <c:v>10 秒</c:v>
                  </c:pt>
                  <c:pt idx="3">
                    <c:v>12.5 秒</c:v>
                  </c:pt>
                  <c:pt idx="4">
                    <c:v>15 秒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153</c:v>
                </c:pt>
                <c:pt idx="1">
                  <c:v>34</c:v>
                </c:pt>
                <c:pt idx="2">
                  <c:v>0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5F7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7ACB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l"/>
        <c:majorGridlines>
          <c:spPr>
            <a:ln w="6350" cap="flat">
              <a:solidFill>
                <a:srgbClr val="2A2F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7ACB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开场（20 秒）：大家好，我们的作品叫《共鸣》。耳机今天有两种模式：降噪把世界关在外面，通透把世界放进来。我们做了第三种——让世界为你的歌伴奏。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洞察（35 秒）：通勤、散步、跑步，是我们戴耳机最多的时刻。降噪让你和街道断开，通透让你听得见，但脚步和鼓点永远错开，地铁的轰鸣和旋律互相打架。音乐产品看你是谁、几点、心情如何，却从来不“听”你身边在发生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方案（35 秒）：共鸣模式做三件事。对拍：听出环境里的节奏，歌的速度平滑滑过去，每一拍落在世界的拍点上。定调：听出环境里持续的音高，歌移调过去。入景：拍一下眼前，AI 调混响、明暗和编配。右边的调性轮上，紫色指针是世界的拍子，青柠是歌的拍子，重合就是对上了。所有环境声都只在本机分析，不上传。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对拍原理（40 秒）：四步。AudioWorklet 每 10 毫秒算一次起音强度；最近 6 秒做自相关得到速度，并纠正强弱拍造成的慢一倍；用梳状滑动找到最近一拍的相位；最后逐拍锁相——速度每拍滑 35%，相位每拍最多修 6%，所以听起来是被世界带着走，不是跳拍。右边是浏览器实测：开启约 5 秒锁定，相位差从 150 毫秒收敛到 0 到 2 毫秒。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定调与入景（35 秒）：定调把频谱的峰值折叠成 12 个音级——一个音级压过其他就是嗡鸣，能量分散但像某个调就用调性轮廓识别。比如 110 赫兹的嗡鸣是 A，《夜行》就从 E 小调移到 D 小调，让 A 成为属音，只移 2 个半音。入景用混元看图，调混响、明暗、编配和大小调。Demo 用实时合成的原创曲，速度和调都能无损变化；正式版接 QQ 音乐的分轨。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传播（30 秒）：共鸣片段把世界和你的歌一起录下来，每一条都独一无二，天然适合分享。共鸣指纹让在场的人贡献这里的拍子和调，只存数字不存声音，慢慢拼出一张城市的节拍地图——下一个人到江边，歌一开始就在调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为什么会主动用（25 秒）：散步跑步时脚步就是节拍器；通勤时列车的轰鸣变成伴奏；遇到街头艺人，你的歌会转到他的调上；等人发呆时，转向灯和雨声都有了音乐性。不需要改变任何习惯，结果立刻可感知。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完成度（25 秒）：这一切已经在浏览器里跑起来了：约 5 秒锁定，锁定后相位差 0 到 2 毫秒。DSP 有 19 项单元测试，服务端 98 项；端到端测试用合成的街头声当麦克风，在真实浏览器里验证对拍和定调。分析和合成全在本机，服务端只收指纹的几个数字。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对照评审标准（30 秒）：用户价值上，它改善的是每天最高频的听歌场景，零学习成本、立刻可感知。可行性上，纯浏览器实时运行、已可上线、有实测数据和完整测试。创新性上，这是耳机的第三种模式，在一首歌里连续对齐拍子和调，并且众包出城市的节拍地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路线图（20 秒）：现在实时引擎、原创曲、片段和指纹都已完成。下一步接入 QQ 音乐分轨加实时变速变调，做原生端和蓝牙耳机的延迟校准。之后和耳机的通透模式联动，让演出现场观众的手机和舞台同拍。目标是成为播放器里和降噪、通透并列的第三个开关。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结尾（10 秒）：让世界为你的歌伴奏。共鸣，是降噪和通透之后，耳机的第三种模式。谢谢大家，欢迎提问——现场可以直接戴耳机体验。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_A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_B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共鸣 · 此地有歌 · Build With AI 腾讯音乐首届高校 AI Hackathon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B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共鸣 · 此地有歌 · Build With AI 腾讯音乐首届高校 AI Hackathon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Build With </a:t>
            </a:r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AI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 ·  腾讯音乐首届高校 AI Hackathon  ·  赛道② 创新音乐产品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tx2"/>
                </a:solidFill>
              </a:rPr>
              <a:t>此地有歌 · MusicHere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共鸣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让世界为你的歌伴奏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降噪把世界关在外面，通透把世界放进来——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共鸣让世界成为你这首歌的一部分。</a:t>
            </a:r>
            <a:endParaRPr lang="en-US" sz="1400" dirty="0"/>
          </a:p>
        </p:txBody>
      </p:sp>
      <p:sp>
        <p:nvSpPr>
          <p:cNvPr id="7" name="chip 对拍"/>
          <p:cNvSpPr/>
          <p:nvPr/>
        </p:nvSpPr>
        <p:spPr>
          <a:xfrm>
            <a:off x="640080" y="5166360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D2F76A">
              <a:alpha val="20000"/>
            </a:srgbClr>
          </a:solidFill>
          <a:ln w="9525">
            <a:solidFill>
              <a:srgbClr val="D2F76A">
                <a:alpha val="6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51663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2F76A"/>
                </a:solidFill>
              </a:rPr>
              <a:t>对拍</a:t>
            </a:r>
            <a:endParaRPr lang="en-US" sz="1200" dirty="0"/>
          </a:p>
        </p:txBody>
      </p:sp>
      <p:sp>
        <p:nvSpPr>
          <p:cNvPr id="9" name="chip 定调"/>
          <p:cNvSpPr/>
          <p:nvPr/>
        </p:nvSpPr>
        <p:spPr>
          <a:xfrm>
            <a:off x="1691640" y="5166360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A08BFF">
              <a:alpha val="20000"/>
            </a:srgbClr>
          </a:solidFill>
          <a:ln w="9525">
            <a:solidFill>
              <a:srgbClr val="A08BFF">
                <a:alpha val="6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91640" y="51663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8BFF"/>
                </a:solidFill>
              </a:rPr>
              <a:t>定调</a:t>
            </a:r>
            <a:endParaRPr lang="en-US" sz="1200" dirty="0"/>
          </a:p>
        </p:txBody>
      </p:sp>
      <p:sp>
        <p:nvSpPr>
          <p:cNvPr id="11" name="chip 入景"/>
          <p:cNvSpPr/>
          <p:nvPr/>
        </p:nvSpPr>
        <p:spPr>
          <a:xfrm>
            <a:off x="2743200" y="5166360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5CC8FF">
              <a:alpha val="20000"/>
            </a:srgbClr>
          </a:solidFill>
          <a:ln w="9525">
            <a:solidFill>
              <a:srgbClr val="5CC8FF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51663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C8FF"/>
                </a:solidFill>
              </a:rPr>
              <a:t>入景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团队：【队长姓名】</a:t>
            </a:r>
            <a:endParaRPr lang="en-US" sz="1200" dirty="0"/>
          </a:p>
        </p:txBody>
      </p:sp>
      <p:pic>
        <p:nvPicPr>
          <p:cNvPr id="14" name="phone 10-place" descr="/tmp/deck-MsrRAA/ph_10-pl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17320"/>
            <a:ext cx="2202493" cy="4572000"/>
          </a:xfrm>
          <a:prstGeom prst="rect">
            <a:avLst/>
          </a:prstGeom>
        </p:spPr>
      </p:pic>
      <p:pic>
        <p:nvPicPr>
          <p:cNvPr id="15" name="phone r2-scene" descr="/tmp/deck-MsrRAA/ph_r2-sce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17320"/>
            <a:ext cx="2202493" cy="4572000"/>
          </a:xfrm>
          <a:prstGeom prst="rect">
            <a:avLst/>
          </a:prstGeom>
        </p:spPr>
      </p:pic>
      <p:pic>
        <p:nvPicPr>
          <p:cNvPr id="16" name="phone r1-locked" descr="/tmp/deck-MsrRAA/ph_r1-lock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005840"/>
            <a:ext cx="2202493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问题洞察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你的歌和你身边的世界，是两条互不相干的声轨</a:t>
            </a:r>
            <a:endParaRPr lang="en-US" sz="3400" dirty="0"/>
          </a:p>
        </p:txBody>
      </p:sp>
      <p:sp>
        <p:nvSpPr>
          <p:cNvPr id="4" name="mode 降噪"/>
          <p:cNvSpPr/>
          <p:nvPr/>
        </p:nvSpPr>
        <p:spPr>
          <a:xfrm>
            <a:off x="548640" y="1828800"/>
            <a:ext cx="3520440" cy="2926080"/>
          </a:xfrm>
          <a:prstGeom prst="roundRect">
            <a:avLst>
              <a:gd name="adj" fmla="val 562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5" name="icon mute" descr="/tmp/deck-MsrRAA/ic_m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48840"/>
            <a:ext cx="685800" cy="685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2240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6B7181"/>
                </a:solidFill>
              </a:rPr>
              <a:t>降噪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1089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把世界关在外面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576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chemeClr val="tx2"/>
                </a:solidFill>
              </a:rPr>
              <a:t>安静了，但你和街道断开了</a:t>
            </a:r>
            <a:endParaRPr lang="en-US" sz="1350" dirty="0"/>
          </a:p>
        </p:txBody>
      </p:sp>
      <p:sp>
        <p:nvSpPr>
          <p:cNvPr id="9" name="mode 通透"/>
          <p:cNvSpPr/>
          <p:nvPr/>
        </p:nvSpPr>
        <p:spPr>
          <a:xfrm>
            <a:off x="4297680" y="1828800"/>
            <a:ext cx="3520440" cy="2926080"/>
          </a:xfrm>
          <a:prstGeom prst="roundRect">
            <a:avLst>
              <a:gd name="adj" fmla="val 562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0" name="icon ear" descr="/tmp/deck-MsrRAA/ic_e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148840"/>
            <a:ext cx="685800" cy="685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2240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CC8FF"/>
                </a:solidFill>
              </a:rPr>
              <a:t>通透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1089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把世界原样放进来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36576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chemeClr val="tx2"/>
                </a:solidFill>
              </a:rPr>
              <a:t>听得见了，但脚步和鼓点永远错开，轰鸣和旋律互相打架</a:t>
            </a:r>
            <a:endParaRPr lang="en-US" sz="1350" dirty="0"/>
          </a:p>
        </p:txBody>
      </p:sp>
      <p:sp>
        <p:nvSpPr>
          <p:cNvPr id="14" name="mode 共鸣"/>
          <p:cNvSpPr/>
          <p:nvPr/>
        </p:nvSpPr>
        <p:spPr>
          <a:xfrm>
            <a:off x="8046720" y="1828800"/>
            <a:ext cx="3520440" cy="2926080"/>
          </a:xfrm>
          <a:prstGeom prst="roundRect">
            <a:avLst>
              <a:gd name="adj" fmla="val 562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5" name="icon pulse" descr="/tmp/deck-MsrRAA/ic_pul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148840"/>
            <a:ext cx="685800" cy="6858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35440" y="2240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2F76A"/>
                </a:solidFill>
              </a:rPr>
              <a:t>共鸣</a:t>
            </a:r>
            <a:endParaRPr lang="en-US" sz="26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31089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让世界成为这首歌的一部分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36576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chemeClr val="tx2"/>
                </a:solidFill>
              </a:rPr>
              <a:t>歌跟上世界的拍子、落在世界的调上：脚步踩在鼓点上，嗡鸣成了和声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257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通勤、散步、跑步是戴耳机最多的时刻，却也是音乐和环境冲突最大的时刻。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解决方案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共鸣模式：三件事，实时发生</a:t>
            </a:r>
            <a:endParaRPr lang="en-US" sz="3400" dirty="0"/>
          </a:p>
        </p:txBody>
      </p:sp>
      <p:pic>
        <p:nvPicPr>
          <p:cNvPr id="4" name="icon pulse" descr="/tmp/deck-MsrRAA/ic_pul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18013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对拍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508760" y="22585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听出脚步、转向灯、车轮、街头艺人的节奏；歌的速度平滑滑过去，每一拍落在世界的拍点上</a:t>
            </a:r>
            <a:endParaRPr lang="en-US" sz="1400" dirty="0"/>
          </a:p>
        </p:txBody>
      </p:sp>
      <p:pic>
        <p:nvPicPr>
          <p:cNvPr id="7" name="icon music" descr="/tmp/deck-MsrRAA/ic_mus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73152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2724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定调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8444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听出发动机的嗡鸣、风铃、街头艺人弹的调；歌移调，让嗡鸣成为新调的主音或属音</a:t>
            </a:r>
            <a:endParaRPr lang="en-US" sz="1400" dirty="0"/>
          </a:p>
        </p:txBody>
      </p:sp>
      <p:pic>
        <p:nvPicPr>
          <p:cNvPr id="10" name="icon camera" descr="/tmp/deck-MsrRAA/ic_came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348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08760" y="445312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入景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1508760" y="491032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拍一下眼前，AI 按画面调混响空间、音色明暗、编配密度和大小调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环境声只在手机本机实时分析，不上传、不保存。</a:t>
            </a:r>
            <a:endParaRPr lang="en-US" sz="1300" dirty="0"/>
          </a:p>
        </p:txBody>
      </p:sp>
      <p:pic>
        <p:nvPicPr>
          <p:cNvPr id="14" name="phone r1-locked" descr="/tmp/deck-MsrRAA/ph_r1-lock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325880"/>
            <a:ext cx="2334643" cy="4846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058400" y="18288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紫：世界的拍子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青柠：歌的拍子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两根指针重合 = 已对拍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对拍怎么做到的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不是换一首歌，而是在一首歌里面对齐拍子</a:t>
            </a:r>
            <a:endParaRPr lang="en-US" sz="3400" dirty="0"/>
          </a:p>
        </p:txBody>
      </p:sp>
      <p:sp>
        <p:nvSpPr>
          <p:cNvPr id="4" name="chain 起音检测"/>
          <p:cNvSpPr/>
          <p:nvPr/>
        </p:nvSpPr>
        <p:spPr>
          <a:xfrm>
            <a:off x="548640" y="1783080"/>
            <a:ext cx="5120640" cy="868680"/>
          </a:xfrm>
          <a:prstGeom prst="roundRect">
            <a:avLst>
              <a:gd name="adj" fmla="val 14737"/>
            </a:avLst>
          </a:prstGeom>
          <a:solidFill>
            <a:srgbClr val="12151D">
              <a:alpha val="90000"/>
            </a:srgbClr>
          </a:solidFill>
          <a:ln w="12700">
            <a:solidFill>
              <a:srgbClr val="A08BFF">
                <a:alpha val="40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842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928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起音检测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2402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AudioWorklet 每 10.7 ms 算低频 / 全频能量的跳变</a:t>
            </a:r>
            <a:endParaRPr lang="en-US" sz="1150" dirty="0"/>
          </a:p>
        </p:txBody>
      </p:sp>
      <p:sp>
        <p:nvSpPr>
          <p:cNvPr id="8" name="chain 速度"/>
          <p:cNvSpPr/>
          <p:nvPr/>
        </p:nvSpPr>
        <p:spPr>
          <a:xfrm>
            <a:off x="548640" y="2807208"/>
            <a:ext cx="5120640" cy="868680"/>
          </a:xfrm>
          <a:prstGeom prst="roundRect">
            <a:avLst>
              <a:gd name="adj" fmla="val 14737"/>
            </a:avLst>
          </a:prstGeom>
          <a:solidFill>
            <a:srgbClr val="12151D">
              <a:alpha val="90000"/>
            </a:srgbClr>
          </a:solidFill>
          <a:ln w="12700">
            <a:solidFill>
              <a:srgbClr val="A08B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0083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91693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速度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2644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最近 6 秒自相关，强弱拍纠错，抛物线插值到小数拍</a:t>
            </a:r>
            <a:endParaRPr lang="en-US" sz="1150" dirty="0"/>
          </a:p>
        </p:txBody>
      </p:sp>
      <p:sp>
        <p:nvSpPr>
          <p:cNvPr id="12" name="chain 相位"/>
          <p:cNvSpPr/>
          <p:nvPr/>
        </p:nvSpPr>
        <p:spPr>
          <a:xfrm>
            <a:off x="548640" y="3831336"/>
            <a:ext cx="5120640" cy="868680"/>
          </a:xfrm>
          <a:prstGeom prst="roundRect">
            <a:avLst>
              <a:gd name="adj" fmla="val 14737"/>
            </a:avLst>
          </a:prstGeom>
          <a:solidFill>
            <a:srgbClr val="12151D">
              <a:alpha val="90000"/>
            </a:srgbClr>
          </a:solidFill>
          <a:ln w="12700">
            <a:solidFill>
              <a:srgbClr val="A08BFF">
                <a:alpha val="4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03250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941064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相位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28853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「梳子」滑动找最近一拍，近拍权重更高</a:t>
            </a:r>
            <a:endParaRPr lang="en-US" sz="1150" dirty="0"/>
          </a:p>
        </p:txBody>
      </p:sp>
      <p:sp>
        <p:nvSpPr>
          <p:cNvPr id="16" name="chain 锁相"/>
          <p:cNvSpPr/>
          <p:nvPr/>
        </p:nvSpPr>
        <p:spPr>
          <a:xfrm>
            <a:off x="548640" y="4855464"/>
            <a:ext cx="5120640" cy="868680"/>
          </a:xfrm>
          <a:prstGeom prst="roundRect">
            <a:avLst>
              <a:gd name="adj" fmla="val 14737"/>
            </a:avLst>
          </a:prstGeom>
          <a:solidFill>
            <a:srgbClr val="12151D">
              <a:alpha val="90000"/>
            </a:srgbClr>
          </a:solidFill>
          <a:ln w="12700">
            <a:solidFill>
              <a:srgbClr val="A08BFF">
                <a:alpha val="4000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5663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96519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锁相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531266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速度每拍滑 35%，相位每拍最多修正 6%；减掉输出延迟</a:t>
            </a:r>
            <a:endParaRPr lang="en-US" sz="115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126480" y="1691640"/>
          <a:ext cx="55778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126480" y="571500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chemeClr val="tx2"/>
                </a:solidFill>
              </a:rPr>
              <a:t>浏览器实测（合成街头声：112 BPM 脚步 + 110 Hz 嗡鸣）。录下的片段里，锁定后脚步与鼓点合为同一个起音峰。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定调与入景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落在世界的调上，长成眼前的样子</a:t>
            </a:r>
            <a:endParaRPr lang="en-US" sz="3400" dirty="0"/>
          </a:p>
        </p:txBody>
      </p:sp>
      <p:sp>
        <p:nvSpPr>
          <p:cNvPr id="4" name="key card"/>
          <p:cNvSpPr/>
          <p:nvPr/>
        </p:nvSpPr>
        <p:spPr>
          <a:xfrm>
            <a:off x="548640" y="1783080"/>
            <a:ext cx="5532120" cy="4297680"/>
          </a:xfrm>
          <a:prstGeom prst="roundRect">
            <a:avLst>
              <a:gd name="adj" fmla="val 3830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5" name="icon music" descr="/tmp/deck-MsrRAA/ic_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20756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定调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4320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16384 点频谱 → 只取局部峰值 → 折叠成 12 个音级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一个音级压过其他：嗡鸣（发动机、风铃、空调）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能量分散但像某个调：Krumhansl 轮廓识别 24 个调（街头艺人）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嗡鸣作新调的主音或属音，取移动最少的；移调只在小节线生效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0749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chemeClr val="accent1"/>
                </a:solidFill>
              </a:rPr>
              <a:t>例：110 Hz 嗡鸣 → A；《夜行》E 小调 → D 小调（A 是属音，只移 2 个半音）</a:t>
            </a:r>
            <a:endParaRPr lang="en-US" sz="1300" dirty="0"/>
          </a:p>
        </p:txBody>
      </p:sp>
      <p:sp>
        <p:nvSpPr>
          <p:cNvPr id="9" name="scene card"/>
          <p:cNvSpPr/>
          <p:nvPr/>
        </p:nvSpPr>
        <p:spPr>
          <a:xfrm>
            <a:off x="6263640" y="178308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0" name="icon camera" descr="/tmp/deck-MsrRAA/ic_came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01168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20756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入景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37960" y="269748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腾讯混元看图 → 能量、效价、情绪；画面明暗在本机计算；地点类型决定空间。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→ 编配密度 · 低通明暗 · 大小调 · 混响（小房间 / 开阔户外 / 隧道 / 现场）</a:t>
            </a:r>
            <a:endParaRPr lang="en-US" sz="1250" dirty="0"/>
          </a:p>
        </p:txBody>
      </p:sp>
      <p:sp>
        <p:nvSpPr>
          <p:cNvPr id="13" name="synth card"/>
          <p:cNvSpPr/>
          <p:nvPr/>
        </p:nvSpPr>
        <p:spPr>
          <a:xfrm>
            <a:off x="6263640" y="402336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4" name="icon layers" descr="/tmp/deck-MsrRAA/ic_lay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251960"/>
            <a:ext cx="548640" cy="5486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269480" y="43159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原创生成曲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6537960" y="493776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4 首按「级数」记谱、浏览器实时合成的原创曲：速度与调可以连续、无损地变化，没有版权风险。正式版：QQ 音乐分轨 + 实时变速变调。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从一个人的耳机，到一座城市的节拍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共鸣片段 · 共鸣指纹</a:t>
            </a:r>
            <a:endParaRPr lang="en-US" sz="3400" dirty="0"/>
          </a:p>
        </p:txBody>
      </p:sp>
      <p:pic>
        <p:nvPicPr>
          <p:cNvPr id="4" name="phone r3-print" descr="/tmp/deck-MsrRAA/ph_r3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202493" cy="4572000"/>
          </a:xfrm>
          <a:prstGeom prst="rect">
            <a:avLst/>
          </a:prstGeom>
        </p:spPr>
      </p:pic>
      <p:pic>
        <p:nvPicPr>
          <p:cNvPr id="5" name="phone 10-place" descr="/tmp/deck-MsrRAA/ph_10-pla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645920"/>
            <a:ext cx="2202493" cy="4572000"/>
          </a:xfrm>
          <a:prstGeom prst="rect">
            <a:avLst/>
          </a:prstGeom>
        </p:spPr>
      </p:pic>
      <p:pic>
        <p:nvPicPr>
          <p:cNvPr id="6" name="icon share" descr="/tmp/deck-MsrRAA/ic_sha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737360"/>
            <a:ext cx="640080" cy="64008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309360" y="171907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共鸣片段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6309360" y="21488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把「世界 + 你的歌」录成 15 秒：环境声和音乐按耳朵听到的时刻对齐。每条街、每一刻都独一无二，天然适合分享。</a:t>
            </a:r>
            <a:endParaRPr lang="en-US" sz="1300" dirty="0"/>
          </a:p>
        </p:txBody>
      </p:sp>
      <p:pic>
        <p:nvPicPr>
          <p:cNvPr id="9" name="icon finger" descr="/tmp/deck-MsrRAA/ic_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108960"/>
            <a:ext cx="640080" cy="6400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309360" y="309067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共鸣指纹</a:t>
            </a:r>
            <a:endParaRPr lang="en-US" sz="1900" dirty="0"/>
          </a:p>
        </p:txBody>
      </p:sp>
      <p:sp>
        <p:nvSpPr>
          <p:cNvPr id="11" name="Text 5"/>
          <p:cNvSpPr txBox="1"/>
          <p:nvPr/>
        </p:nvSpPr>
        <p:spPr>
          <a:xfrm>
            <a:off x="6309360" y="35204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在现场贡献这里的拍子和调——只存数字，不存声音。多人数据折叠八度后取中位数，调取多数票。</a:t>
            </a:r>
            <a:endParaRPr lang="en-US" sz="1300" dirty="0"/>
          </a:p>
        </p:txBody>
      </p:sp>
      <p:pic>
        <p:nvPicPr>
          <p:cNvPr id="12" name="icon earth" descr="/tmp/deck-MsrRAA/ic_eart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4480560"/>
            <a:ext cx="640080" cy="6400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6309360" y="446227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城市节拍地图</a:t>
            </a:r>
            <a:endParaRPr lang="en-US" sz="1900" dirty="0"/>
          </a:p>
        </p:txBody>
      </p:sp>
      <p:sp>
        <p:nvSpPr>
          <p:cNvPr id="14" name="Text 7"/>
          <p:cNvSpPr txBox="1"/>
          <p:nvPr/>
        </p:nvSpPr>
        <p:spPr>
          <a:xfrm>
            <a:off x="6309360" y="48920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下一个人来到江边步道，歌一开始就按「112 BPM · A 嗡鸣」预调；地点越热门，体验越好。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为什么会主动用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不改变习惯，只是多了一个开关</a:t>
            </a:r>
            <a:endParaRPr lang="en-US" sz="3400" dirty="0"/>
          </a:p>
        </p:txBody>
      </p:sp>
      <p:sp>
        <p:nvSpPr>
          <p:cNvPr id="4" name="use 散步 · 跑步"/>
          <p:cNvSpPr/>
          <p:nvPr/>
        </p:nvSpPr>
        <p:spPr>
          <a:xfrm>
            <a:off x="548640" y="1783080"/>
            <a:ext cx="5394960" cy="1874520"/>
          </a:xfrm>
          <a:prstGeom prst="roundRect">
            <a:avLst>
              <a:gd name="adj" fmla="val 8780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5" name="icon walk" descr="/tmp/deck-MsrRAA/ic_wa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640080" cy="640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1305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散步 · 跑步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265176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脚步就是节拍器：加速度计识别步频，歌跟着你的步子走</a:t>
            </a:r>
            <a:endParaRPr lang="en-US" sz="1400" dirty="0"/>
          </a:p>
        </p:txBody>
      </p:sp>
      <p:sp>
        <p:nvSpPr>
          <p:cNvPr id="8" name="use 通勤"/>
          <p:cNvSpPr/>
          <p:nvPr/>
        </p:nvSpPr>
        <p:spPr>
          <a:xfrm>
            <a:off x="6172200" y="1783080"/>
            <a:ext cx="5394960" cy="1874520"/>
          </a:xfrm>
          <a:prstGeom prst="roundRect">
            <a:avLst>
              <a:gd name="adj" fmla="val 8780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9" name="icon train" descr="/tmp/deck-MsrRAA/ic_t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5740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269480" y="21305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通勤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7269480" y="265176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列车的节奏、进站的轰鸣，从噪音变成伴奏</a:t>
            </a:r>
            <a:endParaRPr lang="en-US" sz="1400" dirty="0"/>
          </a:p>
        </p:txBody>
      </p:sp>
      <p:sp>
        <p:nvSpPr>
          <p:cNvPr id="12" name="use 街头艺人"/>
          <p:cNvSpPr/>
          <p:nvPr/>
        </p:nvSpPr>
        <p:spPr>
          <a:xfrm>
            <a:off x="548640" y="3886200"/>
            <a:ext cx="5394960" cy="1874520"/>
          </a:xfrm>
          <a:prstGeom prst="roundRect">
            <a:avLst>
              <a:gd name="adj" fmla="val 8780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3" name="icon guitar" descr="/tmp/deck-MsrRAA/ic_gui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640080" cy="6400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45920" y="42336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街头艺人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1645920" y="475488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他弹 G 大调，你的歌也到 G 大调；还能把现场记进这个地点</a:t>
            </a:r>
            <a:endParaRPr lang="en-US" sz="1400" dirty="0"/>
          </a:p>
        </p:txBody>
      </p:sp>
      <p:sp>
        <p:nvSpPr>
          <p:cNvPr id="16" name="use 等人 · 发呆"/>
          <p:cNvSpPr/>
          <p:nvPr/>
        </p:nvSpPr>
        <p:spPr>
          <a:xfrm>
            <a:off x="6172200" y="3886200"/>
            <a:ext cx="5394960" cy="1874520"/>
          </a:xfrm>
          <a:prstGeom prst="roundRect">
            <a:avLst>
              <a:gd name="adj" fmla="val 8780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7" name="icon hand" descr="/tmp/deck-MsrRAA/ic_ha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4160520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269480" y="42336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等人 · 发呆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7269480" y="475488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转向灯、雨声、风铃……日常的声音突然有了音乐性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结果立刻可感知：踩在鼓点上的那一刻，就是这个产品的全部说服力。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完成度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已经在浏览器里跑起来了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~5 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锁定环境拍子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0–2 ms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6974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锁定后的相位差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19 + 98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6974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DSP 单测 + 服务端测试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21 步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26974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端到端测试（假麦克风）</a:t>
            </a:r>
            <a:endParaRPr lang="en-US" sz="1300" dirty="0"/>
          </a:p>
        </p:txBody>
      </p:sp>
      <p:sp>
        <p:nvSpPr>
          <p:cNvPr id="12" name="arch 输入（本机）"/>
          <p:cNvSpPr/>
          <p:nvPr/>
        </p:nvSpPr>
        <p:spPr>
          <a:xfrm>
            <a:off x="548640" y="3749040"/>
            <a:ext cx="2514600" cy="1920240"/>
          </a:xfrm>
          <a:prstGeom prst="roundRect">
            <a:avLst>
              <a:gd name="adj" fmla="val 8571"/>
            </a:avLst>
          </a:prstGeom>
          <a:solidFill>
            <a:srgbClr val="5CC8FF">
              <a:alpha val="12000"/>
            </a:srgbClr>
          </a:solidFill>
          <a:ln w="12700">
            <a:solidFill>
              <a:srgbClr val="5CC8FF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9502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CC8FF"/>
                </a:solidFill>
              </a:rPr>
              <a:t>输入（本机）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4805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麦克风 · 加速度计 · 相机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063240" y="44805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arch 分析（本机）"/>
          <p:cNvSpPr/>
          <p:nvPr/>
        </p:nvSpPr>
        <p:spPr>
          <a:xfrm>
            <a:off x="3383280" y="3749040"/>
            <a:ext cx="2514600" cy="1920240"/>
          </a:xfrm>
          <a:prstGeom prst="roundRect">
            <a:avLst>
              <a:gd name="adj" fmla="val 8571"/>
            </a:avLst>
          </a:prstGeom>
          <a:solidFill>
            <a:srgbClr val="A08BFF">
              <a:alpha val="12000"/>
            </a:srgbClr>
          </a:solidFill>
          <a:ln w="12700">
            <a:solidFill>
              <a:srgbClr val="A08BFF">
                <a:alpha val="5000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11880" y="39502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08BFF"/>
                </a:solidFill>
              </a:rPr>
              <a:t>分析（本机）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4805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AudioWorklet 起音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16384 点 FFT 色度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44805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arch 引擎（本机）"/>
          <p:cNvSpPr/>
          <p:nvPr/>
        </p:nvSpPr>
        <p:spPr>
          <a:xfrm>
            <a:off x="6217920" y="3749040"/>
            <a:ext cx="2514600" cy="1920240"/>
          </a:xfrm>
          <a:prstGeom prst="roundRect">
            <a:avLst>
              <a:gd name="adj" fmla="val 8571"/>
            </a:avLst>
          </a:prstGeom>
          <a:solidFill>
            <a:srgbClr val="D2F76A">
              <a:alpha val="12000"/>
            </a:srgbClr>
          </a:solidFill>
          <a:ln w="12700">
            <a:solidFill>
              <a:srgbClr val="D2F76A">
                <a:alpha val="5000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39502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2F76A"/>
                </a:solidFill>
              </a:rPr>
              <a:t>引擎（本机）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4805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实时合成 · 锁相 · 移调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入景混音 · 侧链 · 录制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732520" y="44805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arch 服务端"/>
          <p:cNvSpPr/>
          <p:nvPr/>
        </p:nvSpPr>
        <p:spPr>
          <a:xfrm>
            <a:off x="9052560" y="3749040"/>
            <a:ext cx="2514600" cy="1920240"/>
          </a:xfrm>
          <a:prstGeom prst="roundRect">
            <a:avLst>
              <a:gd name="adj" fmla="val 8571"/>
            </a:avLst>
          </a:prstGeom>
          <a:solidFill>
            <a:srgbClr val="3EE6C1">
              <a:alpha val="12000"/>
            </a:srgbClr>
          </a:solidFill>
          <a:ln w="12700">
            <a:solidFill>
              <a:srgbClr val="3EE6C1">
                <a:alpha val="5000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81160" y="39502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EE6C1"/>
                </a:solidFill>
              </a:rPr>
              <a:t>服务端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281160" y="448056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只收共鸣指纹的数字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tx2"/>
                </a:solidFill>
              </a:rPr>
              <a:t>地点、AI 场景理解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端到端测试用合成的街头声当麦克风，在真实浏览器里断言 112 BPM 对拍、D 小调定调、片段下载与指纹；演示视频就是它录下来的。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对照评审标准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用户价值 · 可行性 · 创新性</a:t>
            </a:r>
            <a:endParaRPr lang="en-US" sz="3400" dirty="0"/>
          </a:p>
        </p:txBody>
      </p:sp>
      <p:sp>
        <p:nvSpPr>
          <p:cNvPr id="4" name="criteria 用户价值"/>
          <p:cNvSpPr/>
          <p:nvPr/>
        </p:nvSpPr>
        <p:spPr>
          <a:xfrm>
            <a:off x="548640" y="1783080"/>
            <a:ext cx="3520440" cy="3520440"/>
          </a:xfrm>
          <a:prstGeom prst="roundRect">
            <a:avLst>
              <a:gd name="adj" fmla="val 467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5" name="icon music" descr="/tmp/deck-MsrRAA/ic_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566928" cy="5669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21305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D2F76A"/>
                </a:solidFill>
              </a:rPr>
              <a:t>用户价值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改善每天通勤、散步、跑步的听歌体验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零学习成本，开关一开立刻可感知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共鸣片段可分享，指纹留给后来者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环境声不上传，隐私友好</a:t>
            </a:r>
            <a:endParaRPr lang="en-US" sz="1350" dirty="0"/>
          </a:p>
        </p:txBody>
      </p:sp>
      <p:sp>
        <p:nvSpPr>
          <p:cNvPr id="8" name="criteria 可行性"/>
          <p:cNvSpPr/>
          <p:nvPr/>
        </p:nvSpPr>
        <p:spPr>
          <a:xfrm>
            <a:off x="4297680" y="1783080"/>
            <a:ext cx="3520440" cy="3520440"/>
          </a:xfrm>
          <a:prstGeom prst="roundRect">
            <a:avLst>
              <a:gd name="adj" fmla="val 467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9" name="icon shield" descr="/tmp/deck-MsrRAA/ic_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566928" cy="5669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03520" y="21305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3EE6C1"/>
                </a:solidFill>
              </a:rPr>
              <a:t>可行性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0" y="292608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纯浏览器实时运行，已可部署上线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实测约 5 秒锁定，相位差 0–2 ms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19 项 DSP 单测 + 98 项服务端 + 21 步 e2e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接 QQ 音乐分轨即可用于正式曲目</a:t>
            </a:r>
            <a:endParaRPr lang="en-US" sz="1350" dirty="0"/>
          </a:p>
        </p:txBody>
      </p:sp>
      <p:sp>
        <p:nvSpPr>
          <p:cNvPr id="12" name="criteria 创新性"/>
          <p:cNvSpPr/>
          <p:nvPr/>
        </p:nvSpPr>
        <p:spPr>
          <a:xfrm>
            <a:off x="8046720" y="1783080"/>
            <a:ext cx="3520440" cy="3520440"/>
          </a:xfrm>
          <a:prstGeom prst="roundRect">
            <a:avLst>
              <a:gd name="adj" fmla="val 4675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pic>
        <p:nvPicPr>
          <p:cNvPr id="13" name="icon sparkles" descr="/tmp/deck-MsrRAA/ic_sparkl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057400"/>
            <a:ext cx="566928" cy="56692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052560" y="21305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A08BFF"/>
                </a:solidFill>
              </a:rPr>
              <a:t>创新性</a:t>
            </a:r>
            <a:endParaRPr lang="en-US" sz="2100" dirty="0"/>
          </a:p>
        </p:txBody>
      </p:sp>
      <p:sp>
        <p:nvSpPr>
          <p:cNvPr id="15" name="Text 10"/>
          <p:cNvSpPr txBox="1"/>
          <p:nvPr/>
        </p:nvSpPr>
        <p:spPr>
          <a:xfrm>
            <a:off x="8321040" y="292608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耳机的第三种模式：与环境合奏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在一首歌里连续对齐拍子相位与调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众包的城市节拍地图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原创曲按级数记谱，速度与调无损变化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56235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一句话：降噪和通透之后，耳机的下一个模式是「共鸣」。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路线图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从一个网页，到 QQ 音乐播放器里的一个模式</a:t>
            </a:r>
            <a:endParaRPr lang="en-US" sz="3400" dirty="0"/>
          </a:p>
        </p:txBody>
      </p:sp>
      <p:sp>
        <p:nvSpPr>
          <p:cNvPr id="4" name="timeline"/>
          <p:cNvSpPr/>
          <p:nvPr/>
        </p:nvSpPr>
        <p:spPr>
          <a:xfrm>
            <a:off x="822960" y="2148840"/>
            <a:ext cx="10607040" cy="0"/>
          </a:xfrm>
          <a:prstGeom prst="line">
            <a:avLst/>
          </a:prstGeom>
          <a:noFill/>
          <a:ln w="190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5" name="dot 现在 · 已完成"/>
          <p:cNvSpPr/>
          <p:nvPr/>
        </p:nvSpPr>
        <p:spPr>
          <a:xfrm>
            <a:off x="685800" y="2011680"/>
            <a:ext cx="274320" cy="274320"/>
          </a:xfrm>
          <a:prstGeom prst="ellipse">
            <a:avLst/>
          </a:prstGeom>
          <a:solidFill>
            <a:srgbClr val="D2F76A"/>
          </a:solidFill>
          <a:ln w="12700">
            <a:solidFill>
              <a:srgbClr val="D2F76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514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2F76A"/>
                </a:solidFill>
              </a:rPr>
              <a:t>现在 · 已完成</a:t>
            </a:r>
            <a:endParaRPr lang="en-US" sz="1900" dirty="0"/>
          </a:p>
        </p:txBody>
      </p:sp>
      <p:sp>
        <p:nvSpPr>
          <p:cNvPr id="7" name="road card 现在 · 已完成"/>
          <p:cNvSpPr/>
          <p:nvPr/>
        </p:nvSpPr>
        <p:spPr>
          <a:xfrm>
            <a:off x="548640" y="3063240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291840"/>
            <a:ext cx="3108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对拍 / 定调 / 入景 实时引擎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4 首原创生成曲、共鸣片段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共鸣指纹与地点页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脚步对拍（加速度计）</a:t>
            </a:r>
            <a:endParaRPr lang="en-US" sz="1400" dirty="0"/>
          </a:p>
        </p:txBody>
      </p:sp>
      <p:sp>
        <p:nvSpPr>
          <p:cNvPr id="9" name="dot 下一步 · 3 个月"/>
          <p:cNvSpPr/>
          <p:nvPr/>
        </p:nvSpPr>
        <p:spPr>
          <a:xfrm>
            <a:off x="4434840" y="2011680"/>
            <a:ext cx="274320" cy="274320"/>
          </a:xfrm>
          <a:prstGeom prst="ellipse">
            <a:avLst/>
          </a:prstGeom>
          <a:solidFill>
            <a:srgbClr val="3EE6C1"/>
          </a:solidFill>
          <a:ln w="12700">
            <a:solidFill>
              <a:srgbClr val="3EE6C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97680" y="2514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EE6C1"/>
                </a:solidFill>
              </a:rPr>
              <a:t>下一步 · 3 个月</a:t>
            </a:r>
            <a:endParaRPr lang="en-US" sz="1900" dirty="0"/>
          </a:p>
        </p:txBody>
      </p:sp>
      <p:sp>
        <p:nvSpPr>
          <p:cNvPr id="11" name="road card 下一步 · 3 个月"/>
          <p:cNvSpPr/>
          <p:nvPr/>
        </p:nvSpPr>
        <p:spPr>
          <a:xfrm>
            <a:off x="4297680" y="3063240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3291840"/>
            <a:ext cx="3108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QQ 音乐分轨 + 实时变速变调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原生端：react-native-audio-api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真机与蓝牙耳机延迟校准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校园 / 街区试点</a:t>
            </a:r>
            <a:endParaRPr lang="en-US" sz="1400" dirty="0"/>
          </a:p>
        </p:txBody>
      </p:sp>
      <p:sp>
        <p:nvSpPr>
          <p:cNvPr id="13" name="dot 之后 · 6–12 个月"/>
          <p:cNvSpPr/>
          <p:nvPr/>
        </p:nvSpPr>
        <p:spPr>
          <a:xfrm>
            <a:off x="8183880" y="2011680"/>
            <a:ext cx="274320" cy="274320"/>
          </a:xfrm>
          <a:prstGeom prst="ellipse">
            <a:avLst/>
          </a:prstGeom>
          <a:solidFill>
            <a:srgbClr val="A08BFF"/>
          </a:solidFill>
          <a:ln w="12700">
            <a:solidFill>
              <a:srgbClr val="A08B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514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08BFF"/>
                </a:solidFill>
              </a:rPr>
              <a:t>之后 · 6–12 个月</a:t>
            </a:r>
            <a:endParaRPr lang="en-US" sz="1900" dirty="0"/>
          </a:p>
        </p:txBody>
      </p:sp>
      <p:sp>
        <p:nvSpPr>
          <p:cNvPr id="15" name="road card 之后 · 6–12 个月"/>
          <p:cNvSpPr/>
          <p:nvPr/>
        </p:nvSpPr>
        <p:spPr>
          <a:xfrm>
            <a:off x="8046720" y="3063240"/>
            <a:ext cx="3520440" cy="2331720"/>
          </a:xfrm>
          <a:prstGeom prst="roundRect">
            <a:avLst>
              <a:gd name="adj" fmla="val 7059"/>
            </a:avLst>
          </a:prstGeom>
          <a:solidFill>
            <a:srgbClr val="12151D">
              <a:alpha val="85000"/>
            </a:srgbClr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75320" y="3291840"/>
            <a:ext cx="3108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与 TWS 耳机通透模式联动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演出现场：观众手机与舞台同拍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开放城市节拍地图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715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目标：成为 QQ 音乐播放器里与「降噪」「通透」并列的第三个开关。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6858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5600" b="1" dirty="0">
                <a:solidFill>
                  <a:schemeClr val="accent1"/>
                </a:solidFill>
              </a:rPr>
              <a:t>让世界</a:t>
            </a:r>
            <a:endParaRPr lang="en-US" sz="5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600" b="1" dirty="0">
                <a:solidFill>
                  <a:schemeClr val="accent1"/>
                </a:solidFill>
              </a:rPr>
              <a:t>为你的歌伴奏。</a:t>
            </a:r>
            <a:endParaRPr lang="en-US" sz="5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977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共鸣 —— 降噪和通透之后，耳机的第三种模式。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谢谢 · 【队长姓名】</a:t>
            </a:r>
            <a:endParaRPr lang="en-US" sz="1800" dirty="0"/>
          </a:p>
        </p:txBody>
      </p:sp>
      <p:pic>
        <p:nvPicPr>
          <p:cNvPr id="5" name="phone r1-locked" descr="/tmp/deck-MsrRAA/ph_r1-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822960"/>
            <a:ext cx="2510842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此地有歌 · 城市夜色">
  <a:themeElements>
    <a:clrScheme name="此地有歌 · 城市夜色">
      <a:dk1>
        <a:srgbClr val="F4F5F7"/>
      </a:dk1>
      <a:lt1>
        <a:srgbClr val="07080C"/>
      </a:lt1>
      <a:dk2>
        <a:srgbClr val="A7ACB9"/>
      </a:dk2>
      <a:lt2>
        <a:srgbClr val="12151D"/>
      </a:lt2>
      <a:accent1>
        <a:srgbClr val="D2F76A"/>
      </a:accent1>
      <a:accent2>
        <a:srgbClr val="3EE6C1"/>
      </a:accent2>
      <a:accent3>
        <a:srgbClr val="5CC8FF"/>
      </a:accent3>
      <a:accent4>
        <a:srgbClr val="FF8A5B"/>
      </a:accent4>
      <a:accent5>
        <a:srgbClr val="A08BFF"/>
      </a:accent5>
      <a:accent6>
        <a:srgbClr val="FF7AC6"/>
      </a:accent6>
      <a:hlink>
        <a:srgbClr val="3EE6C1"/>
      </a:hlink>
      <a:folHlink>
        <a:srgbClr val="A08BFF"/>
      </a:folHlink>
    </a:clrScheme>
    <a:fontScheme name="此地有歌 · 城市夜色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共鸣 · 路演</dc:title>
  <dc:subject>PptxGenJS Presentation</dc:subject>
  <dc:creator>【队长姓名】</dc:creator>
  <cp:lastModifiedBy>【队长姓名】</cp:lastModifiedBy>
  <cp:revision>1</cp:revision>
  <dcterms:created xsi:type="dcterms:W3CDTF">2026-10-03T10:06:50Z</dcterms:created>
  <dcterms:modified xsi:type="dcterms:W3CDTF">2026-10-03T10:06:50Z</dcterms:modified>
</cp:coreProperties>
</file>