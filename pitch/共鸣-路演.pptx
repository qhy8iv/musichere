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开场" id="{c93b9a3e-cf9d-85dd-e4a5-5f86037a1e47}">
          <p14:sldIdLst>
            <p14:sldId id="256"/>
          </p14:sldIdLst>
        </p14:section>
        <p14:section name="洞察" id="{e375edc2-034a-8e7b-4172-eb602174cbba}">
          <p14:sldIdLst>
            <p14:sldId id="257"/>
          </p14:sldIdLst>
        </p14:section>
        <p14:section name="方案" id="{75f7571a-af9d-2af1-fef2-bc9826e96f6e}">
          <p14:sldIdLst>
            <p14:sldId id="258"/>
            <p14:sldId id="259"/>
          </p14:sldIdLst>
        </p14:section>
        <p14:section name="技术" id="{40e3f5db-ece7-1cc2-98c3-560f834464a8}">
          <p14:sldIdLst>
            <p14:sldId id="260"/>
            <p14:sldId id="261"/>
          </p14:sldIdLst>
        </p14:section>
        <p14:section name="传播" id="{6e8f9f07-e7f5-3f79-a62a-f85d426133f3}">
          <p14:sldIdLst>
            <p14:sldId id="262"/>
            <p14:sldId id="263"/>
          </p14:sldIdLst>
        </p14:section>
        <p14:section name="完成度" id="{132a99c2-a07b-694b-7ed4-b6338ceede5b}">
          <p14:sldIdLst>
            <p14:sldId id="264"/>
          </p14:sldIdLst>
        </p14:section>
        <p14:section name="价值" id="{72f721ac-eb10-890b-0dba-3dfee90053b3}">
          <p14:sldIdLst>
            <p14:sldId id="265"/>
            <p14:sldId id="266"/>
            <p14:sldId id="267"/>
          </p14:sldIdLst>
        </p14:section>
        <p14:section name="结尾" id="{9ed1ad99-9452-05c4-53ac-99b8a0e601c5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4F5F7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F4F5F7"/>
                </a:solidFill>
                <a:latin typeface="+mn-lt"/>
              </a:rPr>
              <a:t>实测：开启后歌曲与脚步的相位差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相位差（毫秒）</c:v>
                </c:pt>
              </c:strCache>
            </c:strRef>
          </c:tx>
          <c:spPr>
            <a:solidFill>
              <a:srgbClr val="D2F76A"/>
            </a:solidFill>
            <a:ln w="38100" cap="flat">
              <a:solidFill>
                <a:srgbClr val="D2F76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4F5F7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D2F76A"/>
              </a:solidFill>
              <a:ln w="9525" cap="flat">
                <a:solidFill>
                  <a:srgbClr val="D2F76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5 秒</c:v>
                  </c:pt>
                  <c:pt idx="1">
                    <c:v>7.5 秒</c:v>
                  </c:pt>
                  <c:pt idx="2">
                    <c:v>10 秒</c:v>
                  </c:pt>
                  <c:pt idx="3">
                    <c:v>12.5 秒</c:v>
                  </c:pt>
                  <c:pt idx="4">
                    <c:v>15 秒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153</c:v>
                </c:pt>
                <c:pt idx="1">
                  <c:v>34</c:v>
                </c:pt>
                <c:pt idx="2">
                  <c:v>0</c:v>
                </c:pt>
                <c:pt idx="3">
                  <c:v>1</c:v>
                </c:pt>
                <c:pt idx="4">
                  <c:v>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4F5F7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7ACB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0"/>
          <c:min val="0"/>
        </c:scaling>
        <c:delete val="0"/>
        <c:axPos val="l"/>
        <c:majorGridlines>
          <c:spPr>
            <a:ln w="6350" cap="flat">
              <a:solidFill>
                <a:srgbClr val="2A2F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7ACB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开场（20 秒）：大家好，我们的作品叫《共鸣》。耳机今天有两种模式：降噪把世界关在外面，通透把世界放进来。我们做了第三种——让世界为你的歌伴奏。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洞察（35 秒）：通勤、散步、跑步，是我们戴耳机最多的时刻。降噪让你和街道断开，通透让你听得见，但脚步和鼓点永远错开，地铁的轰鸣和旋律互相打架。音乐产品看你是谁、几点、心情如何，却从来不“听”你身边在发生什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方案（35 秒）：共鸣模式做三件事。对拍：听出环境里的节奏，歌的速度平滑滑过去，每一拍落在世界的拍点上。定调：听出环境里持续的音高，歌移调过去。入景：拍一下眼前，AI 调混响、明暗和编配。右边的调性轮上，紫色指针是世界的拍子，青柠是歌的拍子，重合就是对上了。所有环境声都只在本机分析，不上传。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三种模式（35 秒）：同一个引擎有三种用法。跑步时它数你的步频，自动挑最合拍的歌，锁在你的脚步上；设了目标，音乐先快 3% 把你带上去。声景不放歌，用时间、天气、步子和身边的嗡鸣实时生成。和 Spotify Running 比，我们不只是挑同速度的歌，而是在一首歌里逐拍对齐，还会主动引导；和 Endel 比，我们会听真实的环境，根音跟着街上的嗡鸣走。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对拍原理（30 秒）：四步。AudioWorklet 每 10 毫秒算一次起音强度；最近 6 秒做自相关得到速度，并纠正强弱拍造成的慢一倍；用梳状滑动找到最近一拍的相位；最后逐拍锁相——速度每拍滑 35%，相位每拍最多修 6%，所以听起来是被世界带着走，不是跳拍。右边是浏览器实测：开启约 5 秒锁定，相位差从 150 毫秒收敛到 0 到 2 毫秒。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定调与入景（25 秒）：定调把频谱的峰值折叠成 12 个音级——一个音级压过其他就是嗡鸣，能量分散但像某个调就用调性轮廓识别。比如 110 赫兹的嗡鸣是 A，《夜行》就从 E 小调移到 D 小调，让 A 成为属音，只移 2 个半音。入景用混元看图，调混响、明暗、编配和大小调。Demo 用实时合成的原创曲，速度和调都能无损变化；正式版接 QQ 音乐的分轨。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传播（25 秒）：共鸣片段把世界和你的歌一起录下来，每一条都独一无二，天然适合分享。共鸣指纹让在场的人贡献这里的拍子和调，只存数字不存声音，慢慢拼出一张城市的节拍地图——下一个人到江边，歌一开始就在调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为什么会主动用（20 秒）：散步跑步时脚步就是节拍器；通勤时列车的轰鸣变成伴奏；遇到街头艺人，你的歌会转到他的调上；等人发呆时，转向灯和雨声都有了音乐性。不需要改变任何习惯，结果立刻可感知。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完成度（25 秒）：这一切已经在浏览器里跑起来了：约 5 秒锁定，锁定后相位差 0 到 2 毫秒。DSP 有 19 项单元测试，服务端 98 项；端到端测试用合成的街头声当麦克风，在真实浏览器里验证对拍和定调。分析和合成全在本机，服务端只收指纹的几个数字。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对照评审标准（25 秒）：用户价值上，它改善的是每天最高频的听歌场景，零学习成本、立刻可感知。可行性上，纯浏览器实时运行、已可上线、有实测数据和完整测试。创新性上，这是耳机的第三种模式，在一首歌里连续对齐拍子和调，并且众包出城市的节拍地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终极形态（30 秒）：我们认为共鸣最理想的载体是 AI 眼镜。开放式扬声器让世界本来就在耳朵里，对拍和定调成了刚需；内置扬声器延迟可标定，最适合毫秒级锁相；第一视角相机、头部运动传感器都更合适。最关键的是麦克风阵列：你转头看向街头艺人，拾音就指向他，你的歌锁到他的鼓点、移到他的调上——看向谁，就跟谁合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路线图（20 秒）：现在实时引擎、原创曲、片段和指纹都已完成。下一步接入 QQ 音乐分轨加实时变速变调，做原生端和蓝牙耳机的延迟校准。之后和耳机的通透模式联动，让演出现场观众的手机和舞台同拍。目标是成为播放器里和降噪、通透并列的第三个开关。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结尾（10 秒）：让世界为你的歌伴奏。共鸣，是降噪和通透之后，耳机的第三种模式。谢谢大家，欢迎提问——现场可以直接戴耳机体验。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OVER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ONTENT_A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CONTENT_B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A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2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共鸣 · 此地有歌 · Build With AI 腾讯音乐首届高校 AI Hackathon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B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2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共鸣 · 此地有歌 · Build With AI 腾讯音乐首届高校 AI Hackathon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Build With </a:t>
            </a:r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AI</a:t>
            </a:r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  ·  腾讯音乐首届高校 AI Hackathon  ·  赛道② 创新音乐产品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chemeClr val="tx2"/>
                </a:solidFill>
              </a:rPr>
              <a:t>此地有歌 · MusicHere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6596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chemeClr val="accent1"/>
                </a:solidFill>
              </a:rPr>
              <a:t>共鸣</a:t>
            </a:r>
            <a:endParaRPr lang="en-US" sz="9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42900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让世界为你的歌伴奏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1605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降噪把世界关在外面，通透把世界放进来——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共鸣让世界成为你这首歌的一部分。</a:t>
            </a:r>
            <a:endParaRPr lang="en-US" sz="1400" dirty="0"/>
          </a:p>
        </p:txBody>
      </p:sp>
      <p:sp>
        <p:nvSpPr>
          <p:cNvPr id="7" name="chip 对拍"/>
          <p:cNvSpPr/>
          <p:nvPr/>
        </p:nvSpPr>
        <p:spPr>
          <a:xfrm>
            <a:off x="640080" y="5166360"/>
            <a:ext cx="914400" cy="347472"/>
          </a:xfrm>
          <a:prstGeom prst="roundRect">
            <a:avLst>
              <a:gd name="adj" fmla="val 50000"/>
            </a:avLst>
          </a:prstGeom>
          <a:solidFill>
            <a:srgbClr val="D2F76A">
              <a:alpha val="20000"/>
            </a:srgbClr>
          </a:solidFill>
          <a:ln w="9525">
            <a:solidFill>
              <a:srgbClr val="D2F76A">
                <a:alpha val="6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51663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2F76A"/>
                </a:solidFill>
              </a:rPr>
              <a:t>对拍</a:t>
            </a:r>
            <a:endParaRPr lang="en-US" sz="1200" dirty="0"/>
          </a:p>
        </p:txBody>
      </p:sp>
      <p:sp>
        <p:nvSpPr>
          <p:cNvPr id="9" name="chip 定调"/>
          <p:cNvSpPr/>
          <p:nvPr/>
        </p:nvSpPr>
        <p:spPr>
          <a:xfrm>
            <a:off x="1691640" y="5166360"/>
            <a:ext cx="914400" cy="347472"/>
          </a:xfrm>
          <a:prstGeom prst="roundRect">
            <a:avLst>
              <a:gd name="adj" fmla="val 50000"/>
            </a:avLst>
          </a:prstGeom>
          <a:solidFill>
            <a:srgbClr val="A08BFF">
              <a:alpha val="20000"/>
            </a:srgbClr>
          </a:solidFill>
          <a:ln w="9525">
            <a:solidFill>
              <a:srgbClr val="A08BFF">
                <a:alpha val="6000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691640" y="51663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08BFF"/>
                </a:solidFill>
              </a:rPr>
              <a:t>定调</a:t>
            </a:r>
            <a:endParaRPr lang="en-US" sz="1200" dirty="0"/>
          </a:p>
        </p:txBody>
      </p:sp>
      <p:sp>
        <p:nvSpPr>
          <p:cNvPr id="11" name="chip 入景"/>
          <p:cNvSpPr/>
          <p:nvPr/>
        </p:nvSpPr>
        <p:spPr>
          <a:xfrm>
            <a:off x="2743200" y="5166360"/>
            <a:ext cx="914400" cy="347472"/>
          </a:xfrm>
          <a:prstGeom prst="roundRect">
            <a:avLst>
              <a:gd name="adj" fmla="val 50000"/>
            </a:avLst>
          </a:prstGeom>
          <a:solidFill>
            <a:srgbClr val="5CC8FF">
              <a:alpha val="20000"/>
            </a:srgbClr>
          </a:solidFill>
          <a:ln w="9525">
            <a:solidFill>
              <a:srgbClr val="5CC8FF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743200" y="51663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C8FF"/>
                </a:solidFill>
              </a:rPr>
              <a:t>入景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035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团队：【队长姓名】</a:t>
            </a:r>
            <a:endParaRPr lang="en-US" sz="1200" dirty="0"/>
          </a:p>
        </p:txBody>
      </p:sp>
      <p:pic>
        <p:nvPicPr>
          <p:cNvPr id="14" name="phone 10-place" descr="/tmp/deck-25b57H/ph_10-pl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1417320"/>
            <a:ext cx="2202493" cy="4572000"/>
          </a:xfrm>
          <a:prstGeom prst="rect">
            <a:avLst/>
          </a:prstGeom>
        </p:spPr>
      </p:pic>
      <p:pic>
        <p:nvPicPr>
          <p:cNvPr id="15" name="phone r2-scene" descr="/tmp/deck-25b57H/ph_r2-sce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417320"/>
            <a:ext cx="2202493" cy="4572000"/>
          </a:xfrm>
          <a:prstGeom prst="rect">
            <a:avLst/>
          </a:prstGeom>
        </p:spPr>
      </p:pic>
      <p:pic>
        <p:nvPicPr>
          <p:cNvPr id="16" name="phone r1-locked" descr="/tmp/deck-25b57H/ph_r1-lock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005840"/>
            <a:ext cx="2202493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问题洞察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你的歌和你身边的世界，是两条互不相干的声轨</a:t>
            </a:r>
            <a:endParaRPr lang="en-US" sz="3400" dirty="0"/>
          </a:p>
        </p:txBody>
      </p:sp>
      <p:sp>
        <p:nvSpPr>
          <p:cNvPr id="4" name="mode 降噪"/>
          <p:cNvSpPr/>
          <p:nvPr/>
        </p:nvSpPr>
        <p:spPr>
          <a:xfrm>
            <a:off x="548640" y="1828800"/>
            <a:ext cx="3520440" cy="2926080"/>
          </a:xfrm>
          <a:prstGeom prst="roundRect">
            <a:avLst>
              <a:gd name="adj" fmla="val 5625"/>
            </a:avLst>
          </a:prstGeom>
          <a:solidFill>
            <a:srgbClr val="12151D">
              <a:alpha val="85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pic>
        <p:nvPicPr>
          <p:cNvPr id="5" name="icon mute" descr="/tmp/deck-25b57H/ic_mu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148840"/>
            <a:ext cx="685800" cy="6858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22402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6B7181"/>
                </a:solidFill>
              </a:rPr>
              <a:t>降噪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1089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把世界关在外面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65760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chemeClr val="tx2"/>
                </a:solidFill>
              </a:rPr>
              <a:t>安静了，但你和街道断开了</a:t>
            </a:r>
            <a:endParaRPr lang="en-US" sz="1350" dirty="0"/>
          </a:p>
        </p:txBody>
      </p:sp>
      <p:sp>
        <p:nvSpPr>
          <p:cNvPr id="9" name="mode 通透"/>
          <p:cNvSpPr/>
          <p:nvPr/>
        </p:nvSpPr>
        <p:spPr>
          <a:xfrm>
            <a:off x="4297680" y="1828800"/>
            <a:ext cx="3520440" cy="2926080"/>
          </a:xfrm>
          <a:prstGeom prst="roundRect">
            <a:avLst>
              <a:gd name="adj" fmla="val 5625"/>
            </a:avLst>
          </a:prstGeom>
          <a:solidFill>
            <a:srgbClr val="12151D">
              <a:alpha val="85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pic>
        <p:nvPicPr>
          <p:cNvPr id="10" name="icon ear" descr="/tmp/deck-25b57H/ic_e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2148840"/>
            <a:ext cx="685800" cy="6858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0" y="22402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5CC8FF"/>
                </a:solidFill>
              </a:rPr>
              <a:t>通透</a:t>
            </a:r>
            <a:endParaRPr lang="en-US" sz="2600" dirty="0"/>
          </a:p>
        </p:txBody>
      </p:sp>
      <p:sp>
        <p:nvSpPr>
          <p:cNvPr id="12" name="Text 8"/>
          <p:cNvSpPr txBox="1"/>
          <p:nvPr/>
        </p:nvSpPr>
        <p:spPr>
          <a:xfrm>
            <a:off x="4617720" y="31089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把世界原样放进来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365760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chemeClr val="tx2"/>
                </a:solidFill>
              </a:rPr>
              <a:t>听得见了，但脚步和鼓点永远错开，轰鸣和旋律互相打架</a:t>
            </a:r>
            <a:endParaRPr lang="en-US" sz="1350" dirty="0"/>
          </a:p>
        </p:txBody>
      </p:sp>
      <p:sp>
        <p:nvSpPr>
          <p:cNvPr id="14" name="mode 共鸣"/>
          <p:cNvSpPr/>
          <p:nvPr/>
        </p:nvSpPr>
        <p:spPr>
          <a:xfrm>
            <a:off x="8046720" y="1828800"/>
            <a:ext cx="3520440" cy="2926080"/>
          </a:xfrm>
          <a:prstGeom prst="roundRect">
            <a:avLst>
              <a:gd name="adj" fmla="val 5625"/>
            </a:avLst>
          </a:prstGeom>
          <a:solidFill>
            <a:srgbClr val="12151D">
              <a:alpha val="85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pic>
        <p:nvPicPr>
          <p:cNvPr id="15" name="icon pulse" descr="/tmp/deck-25b57H/ic_pul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2148840"/>
            <a:ext cx="685800" cy="6858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235440" y="22402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D2F76A"/>
                </a:solidFill>
              </a:rPr>
              <a:t>共鸣</a:t>
            </a:r>
            <a:endParaRPr lang="en-US" sz="2600" dirty="0"/>
          </a:p>
        </p:txBody>
      </p:sp>
      <p:sp>
        <p:nvSpPr>
          <p:cNvPr id="17" name="Text 12"/>
          <p:cNvSpPr txBox="1"/>
          <p:nvPr/>
        </p:nvSpPr>
        <p:spPr>
          <a:xfrm>
            <a:off x="8366760" y="31089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让世界成为这首歌的一部分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366760" y="365760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chemeClr val="tx2"/>
                </a:solidFill>
              </a:rPr>
              <a:t>歌跟上世界的拍子、落在世界的调上：脚步踩在鼓点上，嗡鸣成了和声</a:t>
            </a:r>
            <a:endParaRPr lang="en-US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52578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通勤、散步、跑步是戴耳机最多的时刻，却也是音乐和环境冲突最大的时刻。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解决方案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共鸣模式：三件事，实时发生</a:t>
            </a:r>
            <a:endParaRPr lang="en-US" sz="3400" dirty="0"/>
          </a:p>
        </p:txBody>
      </p:sp>
      <p:pic>
        <p:nvPicPr>
          <p:cNvPr id="4" name="icon pulse" descr="/tmp/deck-25b57H/ic_pul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731520" cy="731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08760" y="180136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对拍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1508760" y="2258568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听出脚步、转向灯、车轮、街头艺人的节奏；歌的速度平滑滑过去，每一拍落在世界的拍点上</a:t>
            </a:r>
            <a:endParaRPr lang="en-US" sz="1400" dirty="0"/>
          </a:p>
        </p:txBody>
      </p:sp>
      <p:pic>
        <p:nvPicPr>
          <p:cNvPr id="7" name="icon music" descr="/tmp/deck-25b57H/ic_musi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108960"/>
            <a:ext cx="731520" cy="7315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312724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定调</a:t>
            </a:r>
            <a:endParaRPr lang="en-US" sz="2200" dirty="0"/>
          </a:p>
        </p:txBody>
      </p:sp>
      <p:sp>
        <p:nvSpPr>
          <p:cNvPr id="9" name="Text 5"/>
          <p:cNvSpPr txBox="1"/>
          <p:nvPr/>
        </p:nvSpPr>
        <p:spPr>
          <a:xfrm>
            <a:off x="1508760" y="3584448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听出发动机的嗡鸣、风铃、街头艺人弹的调；歌移调，让嗡鸣成为新调的主音或属音</a:t>
            </a:r>
            <a:endParaRPr lang="en-US" sz="1400" dirty="0"/>
          </a:p>
        </p:txBody>
      </p:sp>
      <p:pic>
        <p:nvPicPr>
          <p:cNvPr id="10" name="icon camera" descr="/tmp/deck-25b57H/ic_camer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434840"/>
            <a:ext cx="731520" cy="7315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508760" y="445312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入景</a:t>
            </a:r>
            <a:endParaRPr lang="en-US" sz="2200" dirty="0"/>
          </a:p>
        </p:txBody>
      </p:sp>
      <p:sp>
        <p:nvSpPr>
          <p:cNvPr id="12" name="Text 7"/>
          <p:cNvSpPr txBox="1"/>
          <p:nvPr/>
        </p:nvSpPr>
        <p:spPr>
          <a:xfrm>
            <a:off x="1508760" y="4910328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拍一下眼前，AI 按画面调混响空间、音色明暗、编配密度和大小调</a:t>
            </a:r>
            <a:endParaRPr lang="en-US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548640" y="58978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环境声只在手机本机实时分析，不上传、不保存。</a:t>
            </a:r>
            <a:endParaRPr lang="en-US" sz="1300" dirty="0"/>
          </a:p>
        </p:txBody>
      </p:sp>
      <p:pic>
        <p:nvPicPr>
          <p:cNvPr id="14" name="phone r1-locked" descr="/tmp/deck-25b57H/ph_r1-lock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1325880"/>
            <a:ext cx="2334643" cy="4846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058400" y="18288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chemeClr val="tx2"/>
                </a:solidFill>
              </a:rPr>
              <a:t>紫：世界的拍子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chemeClr val="tx2"/>
                </a:solidFill>
              </a:rPr>
              <a:t>青柠：歌的拍子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chemeClr val="tx2"/>
                </a:solidFill>
              </a:rPr>
              <a:t>两根指针重合 = 已对拍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一个引擎，三种模式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街头 · 跑步 · 声景</a:t>
            </a:r>
            <a:endParaRPr lang="en-US" sz="3400" dirty="0"/>
          </a:p>
        </p:txBody>
      </p:sp>
      <p:pic>
        <p:nvPicPr>
          <p:cNvPr id="4" name="phone m1-run-guide" descr="/tmp/deck-25b57H/ph_m1-run-gu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2004269" cy="4160520"/>
          </a:xfrm>
          <a:prstGeom prst="rect">
            <a:avLst/>
          </a:prstGeom>
        </p:spPr>
      </p:pic>
      <p:pic>
        <p:nvPicPr>
          <p:cNvPr id="5" name="phone m3-scape" descr="/tmp/deck-25b57H/ph_m3-scap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40" y="1691640"/>
            <a:ext cx="2004269" cy="41605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5943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跑步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2606040" y="5943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声景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1783080"/>
          <a:ext cx="676656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691640"/>
                <a:gridCol w="1783080"/>
                <a:gridCol w="21488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A7ACB9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Spotify Running</a:t>
                      </a:r>
                      <a:endParaRPr lang="en-US" sz="12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A7ACB9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Endel</a:t>
                      </a:r>
                      <a:endParaRPr lang="en-US" sz="12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D2F76A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共鸣</a:t>
                      </a:r>
                      <a:endParaRPr lang="en-US" sz="12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D2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A7ACB9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跟步频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5F7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挑同速度的歌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5F7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运动状态影响声景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D2F76A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一首歌里逐拍对齐相位 + 合拍率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1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A7ACB9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主动引导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5F7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无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5F7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无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D2F76A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音乐先快 3%，带你到目标步频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1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A7ACB9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听真实环境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5F7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无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5F7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不听（时间、天气、心率、运动）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D2F76A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环境的节奏、嗡鸣决定拍子和根音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1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A7ACB9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地点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5F7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无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5F7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只用来推算天气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D2F76A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共鸣指纹：众包的城市节拍地图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1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A7ACB9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放什么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5F7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曲库里的歌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5F7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只有生成的声景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D2F76A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街头 / 跑步对齐你的歌；声景生成音乐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1D"/>
                    </a:solidFill>
                  </a:tcPr>
                </a:tc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4892040" y="548640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同一套"听世界"的能力，覆盖一天里通勤、运动、工作和睡前四种场景。</a:t>
            </a:r>
            <a:endParaRPr lang="en-US" sz="1400" dirty="0"/>
          </a:p>
        </p:txBody>
      </p:sp>
      <p:sp>
        <p:nvSpPr>
          <p:cNvPr id="10" name="Text 5"/>
          <p:cNvSpPr txBox="1"/>
          <p:nvPr/>
        </p:nvSpPr>
        <p:spPr>
          <a:xfrm>
            <a:off x="4892040" y="589788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对比依据各产品公开介绍；Spotify Running 已于 2018 年前后下线。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对拍怎么做到的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不是换一首歌，而是在一首歌里面对齐拍子</a:t>
            </a:r>
            <a:endParaRPr lang="en-US" sz="3400" dirty="0"/>
          </a:p>
        </p:txBody>
      </p:sp>
      <p:sp>
        <p:nvSpPr>
          <p:cNvPr id="4" name="chain 起音检测"/>
          <p:cNvSpPr/>
          <p:nvPr/>
        </p:nvSpPr>
        <p:spPr>
          <a:xfrm>
            <a:off x="548640" y="1783080"/>
            <a:ext cx="5120640" cy="868680"/>
          </a:xfrm>
          <a:prstGeom prst="roundRect">
            <a:avLst>
              <a:gd name="adj" fmla="val 14737"/>
            </a:avLst>
          </a:prstGeom>
          <a:solidFill>
            <a:srgbClr val="12151D">
              <a:alpha val="90000"/>
            </a:srgbClr>
          </a:solidFill>
          <a:ln w="12700">
            <a:solidFill>
              <a:srgbClr val="A08BFF">
                <a:alpha val="40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98424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89280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起音检测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224028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AudioWorklet 每 10.7 ms 算低频 / 全频能量的跳变</a:t>
            </a:r>
            <a:endParaRPr lang="en-US" sz="1150" dirty="0"/>
          </a:p>
        </p:txBody>
      </p:sp>
      <p:sp>
        <p:nvSpPr>
          <p:cNvPr id="8" name="chain 速度"/>
          <p:cNvSpPr/>
          <p:nvPr/>
        </p:nvSpPr>
        <p:spPr>
          <a:xfrm>
            <a:off x="548640" y="2807208"/>
            <a:ext cx="5120640" cy="868680"/>
          </a:xfrm>
          <a:prstGeom prst="roundRect">
            <a:avLst>
              <a:gd name="adj" fmla="val 14737"/>
            </a:avLst>
          </a:prstGeom>
          <a:solidFill>
            <a:srgbClr val="12151D">
              <a:alpha val="90000"/>
            </a:srgbClr>
          </a:solidFill>
          <a:ln w="12700">
            <a:solidFill>
              <a:srgbClr val="A08BFF">
                <a:alpha val="4000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300837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91693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速度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26440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最近 6 秒自相关，强弱拍纠错，抛物线插值到小数拍</a:t>
            </a:r>
            <a:endParaRPr lang="en-US" sz="1150" dirty="0"/>
          </a:p>
        </p:txBody>
      </p:sp>
      <p:sp>
        <p:nvSpPr>
          <p:cNvPr id="12" name="chain 相位"/>
          <p:cNvSpPr/>
          <p:nvPr/>
        </p:nvSpPr>
        <p:spPr>
          <a:xfrm>
            <a:off x="548640" y="3831336"/>
            <a:ext cx="5120640" cy="868680"/>
          </a:xfrm>
          <a:prstGeom prst="roundRect">
            <a:avLst>
              <a:gd name="adj" fmla="val 14737"/>
            </a:avLst>
          </a:prstGeom>
          <a:solidFill>
            <a:srgbClr val="12151D">
              <a:alpha val="90000"/>
            </a:srgbClr>
          </a:solidFill>
          <a:ln w="12700">
            <a:solidFill>
              <a:srgbClr val="A08BFF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03250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94106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相位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4288536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「梳子」滑动找最近一拍，近拍权重更高</a:t>
            </a:r>
            <a:endParaRPr lang="en-US" sz="1150" dirty="0"/>
          </a:p>
        </p:txBody>
      </p:sp>
      <p:sp>
        <p:nvSpPr>
          <p:cNvPr id="16" name="chain 锁相"/>
          <p:cNvSpPr/>
          <p:nvPr/>
        </p:nvSpPr>
        <p:spPr>
          <a:xfrm>
            <a:off x="548640" y="4855464"/>
            <a:ext cx="5120640" cy="868680"/>
          </a:xfrm>
          <a:prstGeom prst="roundRect">
            <a:avLst>
              <a:gd name="adj" fmla="val 14737"/>
            </a:avLst>
          </a:prstGeom>
          <a:solidFill>
            <a:srgbClr val="12151D">
              <a:alpha val="90000"/>
            </a:srgbClr>
          </a:solidFill>
          <a:ln w="12700">
            <a:solidFill>
              <a:srgbClr val="A08BFF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505663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4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496519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锁相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5312664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速度每拍滑 35%，相位每拍最多修正 6%；减掉输出延迟</a:t>
            </a:r>
            <a:endParaRPr lang="en-US" sz="115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6126480" y="1691640"/>
          <a:ext cx="55778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8"/>
          <p:cNvSpPr txBox="1"/>
          <p:nvPr/>
        </p:nvSpPr>
        <p:spPr>
          <a:xfrm>
            <a:off x="6126480" y="571500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浏览器实测（合成街头声：112 BPM 脚步 + 110 Hz 嗡鸣）。录下的片段里，锁定后脚步与鼓点合为同一个起音峰。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定调与入景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落在世界的调上，长成眼前的样子</a:t>
            </a:r>
            <a:endParaRPr lang="en-US" sz="3400" dirty="0"/>
          </a:p>
        </p:txBody>
      </p:sp>
      <p:sp>
        <p:nvSpPr>
          <p:cNvPr id="4" name="key card"/>
          <p:cNvSpPr/>
          <p:nvPr/>
        </p:nvSpPr>
        <p:spPr>
          <a:xfrm>
            <a:off x="548640" y="1783080"/>
            <a:ext cx="5532120" cy="4297680"/>
          </a:xfrm>
          <a:prstGeom prst="roundRect">
            <a:avLst>
              <a:gd name="adj" fmla="val 3830"/>
            </a:avLst>
          </a:prstGeom>
          <a:solidFill>
            <a:srgbClr val="12151D">
              <a:alpha val="85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pic>
        <p:nvPicPr>
          <p:cNvPr id="5" name="icon music" descr="/tmp/deck-25b57H/ic_mus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116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207568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定调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74320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16384 点频谱 → 只取局部峰值 → 折叠成 12 个音级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一个音级压过其他：嗡鸣（发动机、风铃、空调）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能量分散但像某个调：Krumhansl 轮廓识别 24 个调（街头艺人）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嗡鸣作新调的主音或属音，取移动最少的；移调只在小节线生效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50749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chemeClr val="accent1"/>
                </a:solidFill>
              </a:rPr>
              <a:t>例：110 Hz 嗡鸣 → A；《夜行》E 小调 → D 小调（A 是属音，只移 2 个半音）</a:t>
            </a:r>
            <a:endParaRPr lang="en-US" sz="1300" dirty="0"/>
          </a:p>
        </p:txBody>
      </p:sp>
      <p:sp>
        <p:nvSpPr>
          <p:cNvPr id="9" name="scene card"/>
          <p:cNvSpPr/>
          <p:nvPr/>
        </p:nvSpPr>
        <p:spPr>
          <a:xfrm>
            <a:off x="6263640" y="1783080"/>
            <a:ext cx="5394960" cy="2057400"/>
          </a:xfrm>
          <a:prstGeom prst="roundRect">
            <a:avLst>
              <a:gd name="adj" fmla="val 8000"/>
            </a:avLst>
          </a:prstGeom>
          <a:solidFill>
            <a:srgbClr val="12151D">
              <a:alpha val="85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pic>
        <p:nvPicPr>
          <p:cNvPr id="10" name="icon camera" descr="/tmp/deck-25b57H/ic_camer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01168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269480" y="207568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入景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6537960" y="269748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chemeClr val="tx2"/>
                </a:solidFill>
              </a:rPr>
              <a:t>腾讯混元看图 → 能量、效价、情绪；画面明暗在本机计算；地点类型决定空间。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chemeClr val="tx2"/>
                </a:solidFill>
              </a:rPr>
              <a:t>→ 编配密度 · 低通明暗 · 大小调 · 混响（小房间 / 开阔户外 / 隧道 / 现场）</a:t>
            </a:r>
            <a:endParaRPr lang="en-US" sz="1250" dirty="0"/>
          </a:p>
        </p:txBody>
      </p:sp>
      <p:sp>
        <p:nvSpPr>
          <p:cNvPr id="13" name="synth card"/>
          <p:cNvSpPr/>
          <p:nvPr/>
        </p:nvSpPr>
        <p:spPr>
          <a:xfrm>
            <a:off x="6263640" y="4023360"/>
            <a:ext cx="5394960" cy="2057400"/>
          </a:xfrm>
          <a:prstGeom prst="roundRect">
            <a:avLst>
              <a:gd name="adj" fmla="val 8000"/>
            </a:avLst>
          </a:prstGeom>
          <a:solidFill>
            <a:srgbClr val="12151D">
              <a:alpha val="85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pic>
        <p:nvPicPr>
          <p:cNvPr id="14" name="icon layers" descr="/tmp/deck-25b57H/ic_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4251960"/>
            <a:ext cx="548640" cy="54864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269480" y="431596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正式曲目</a:t>
            </a:r>
            <a:endParaRPr lang="en-US" sz="2000" dirty="0"/>
          </a:p>
        </p:txBody>
      </p:sp>
      <p:sp>
        <p:nvSpPr>
          <p:cNvPr id="16" name="Text 11"/>
          <p:cNvSpPr txBox="1"/>
          <p:nvPr/>
        </p:nvSpPr>
        <p:spPr>
          <a:xfrm>
            <a:off x="6537960" y="493776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chemeClr val="tx2"/>
                </a:solidFill>
              </a:rPr>
              <a:t>Demo：5 首按级数记谱的实时合成原创曲。正式曲目：离线算节拍和调，实时变速变调（±10–15% / ±2–3 半音内）；差得更远就按速度和调选歌。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从一个人的耳机，到一座城市的节拍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共鸣片段 · 共鸣指纹</a:t>
            </a:r>
            <a:endParaRPr lang="en-US" sz="3400" dirty="0"/>
          </a:p>
        </p:txBody>
      </p:sp>
      <p:pic>
        <p:nvPicPr>
          <p:cNvPr id="4" name="phone r3-print" descr="/tmp/deck-25b57H/ph_r3-pr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2202493" cy="4572000"/>
          </a:xfrm>
          <a:prstGeom prst="rect">
            <a:avLst/>
          </a:prstGeom>
        </p:spPr>
      </p:pic>
      <p:pic>
        <p:nvPicPr>
          <p:cNvPr id="5" name="phone 10-place" descr="/tmp/deck-25b57H/ph_10-pla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1645920"/>
            <a:ext cx="2202493" cy="4572000"/>
          </a:xfrm>
          <a:prstGeom prst="rect">
            <a:avLst/>
          </a:prstGeom>
        </p:spPr>
      </p:pic>
      <p:pic>
        <p:nvPicPr>
          <p:cNvPr id="6" name="icon share" descr="/tmp/deck-25b57H/ic_shar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737360"/>
            <a:ext cx="640080" cy="64008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6309360" y="1719072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共鸣片段</a:t>
            </a:r>
            <a:endParaRPr lang="en-US" sz="1900" dirty="0"/>
          </a:p>
        </p:txBody>
      </p:sp>
      <p:sp>
        <p:nvSpPr>
          <p:cNvPr id="8" name="Text 3"/>
          <p:cNvSpPr txBox="1"/>
          <p:nvPr/>
        </p:nvSpPr>
        <p:spPr>
          <a:xfrm>
            <a:off x="6309360" y="214884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把「世界 + 你的歌」录成 15 秒：环境声和音乐按耳朵听到的时刻对齐。每条街、每一刻都独一无二，天然适合分享。</a:t>
            </a:r>
            <a:endParaRPr lang="en-US" sz="1300" dirty="0"/>
          </a:p>
        </p:txBody>
      </p:sp>
      <p:pic>
        <p:nvPicPr>
          <p:cNvPr id="9" name="icon finger" descr="/tmp/deck-25b57H/ic_fing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0" y="3108960"/>
            <a:ext cx="640080" cy="64008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6309360" y="3090672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共鸣指纹</a:t>
            </a:r>
            <a:endParaRPr lang="en-US" sz="1900" dirty="0"/>
          </a:p>
        </p:txBody>
      </p:sp>
      <p:sp>
        <p:nvSpPr>
          <p:cNvPr id="11" name="Text 5"/>
          <p:cNvSpPr txBox="1"/>
          <p:nvPr/>
        </p:nvSpPr>
        <p:spPr>
          <a:xfrm>
            <a:off x="6309360" y="352044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在现场贡献这里的拍子和调——只存数字，不存声音。多人数据折叠八度后取中位数，调取多数票。</a:t>
            </a:r>
            <a:endParaRPr lang="en-US" sz="1300" dirty="0"/>
          </a:p>
        </p:txBody>
      </p:sp>
      <p:pic>
        <p:nvPicPr>
          <p:cNvPr id="12" name="icon earth" descr="/tmp/deck-25b57H/ic_eart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4480560"/>
            <a:ext cx="640080" cy="640080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6309360" y="4462272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城市节拍地图</a:t>
            </a:r>
            <a:endParaRPr lang="en-US" sz="1900" dirty="0"/>
          </a:p>
        </p:txBody>
      </p:sp>
      <p:sp>
        <p:nvSpPr>
          <p:cNvPr id="14" name="Text 7"/>
          <p:cNvSpPr txBox="1"/>
          <p:nvPr/>
        </p:nvSpPr>
        <p:spPr>
          <a:xfrm>
            <a:off x="6309360" y="489204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下一个人来到江边步道，歌一开始就按「112 BPM · A 嗡鸣」预调；地点越热门，体验越好。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为什么会主动用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不改变习惯，只是多了一个开关</a:t>
            </a:r>
            <a:endParaRPr lang="en-US" sz="3400" dirty="0"/>
          </a:p>
        </p:txBody>
      </p:sp>
      <p:sp>
        <p:nvSpPr>
          <p:cNvPr id="4" name="use 散步 · 跑步"/>
          <p:cNvSpPr/>
          <p:nvPr/>
        </p:nvSpPr>
        <p:spPr>
          <a:xfrm>
            <a:off x="548640" y="1783080"/>
            <a:ext cx="5394960" cy="1874520"/>
          </a:xfrm>
          <a:prstGeom prst="roundRect">
            <a:avLst>
              <a:gd name="adj" fmla="val 8780"/>
            </a:avLst>
          </a:prstGeom>
          <a:solidFill>
            <a:srgbClr val="12151D">
              <a:alpha val="85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pic>
        <p:nvPicPr>
          <p:cNvPr id="5" name="icon walk" descr="/tmp/deck-25b57H/ic_wal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57400"/>
            <a:ext cx="640080" cy="640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213055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散步 · 跑步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645920" y="2651760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脚步就是节拍器：歌锁在步子上；想跑快一点，音乐先快 3% 带你</a:t>
            </a:r>
            <a:endParaRPr lang="en-US" sz="1400" dirty="0"/>
          </a:p>
        </p:txBody>
      </p:sp>
      <p:sp>
        <p:nvSpPr>
          <p:cNvPr id="8" name="use 通勤"/>
          <p:cNvSpPr/>
          <p:nvPr/>
        </p:nvSpPr>
        <p:spPr>
          <a:xfrm>
            <a:off x="6172200" y="1783080"/>
            <a:ext cx="5394960" cy="1874520"/>
          </a:xfrm>
          <a:prstGeom prst="roundRect">
            <a:avLst>
              <a:gd name="adj" fmla="val 8780"/>
            </a:avLst>
          </a:prstGeom>
          <a:solidFill>
            <a:srgbClr val="12151D">
              <a:alpha val="85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pic>
        <p:nvPicPr>
          <p:cNvPr id="9" name="icon train" descr="/tmp/deck-25b57H/ic_t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057400"/>
            <a:ext cx="640080" cy="6400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269480" y="213055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通勤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7269480" y="2651760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列车的节奏、进站的轰鸣，从噪音变成伴奏</a:t>
            </a:r>
            <a:endParaRPr lang="en-US" sz="1400" dirty="0"/>
          </a:p>
        </p:txBody>
      </p:sp>
      <p:sp>
        <p:nvSpPr>
          <p:cNvPr id="12" name="use 街头艺人"/>
          <p:cNvSpPr/>
          <p:nvPr/>
        </p:nvSpPr>
        <p:spPr>
          <a:xfrm>
            <a:off x="548640" y="3886200"/>
            <a:ext cx="5394960" cy="1874520"/>
          </a:xfrm>
          <a:prstGeom prst="roundRect">
            <a:avLst>
              <a:gd name="adj" fmla="val 8780"/>
            </a:avLst>
          </a:prstGeom>
          <a:solidFill>
            <a:srgbClr val="12151D">
              <a:alpha val="85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pic>
        <p:nvPicPr>
          <p:cNvPr id="13" name="icon guitar" descr="/tmp/deck-25b57H/ic_gui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160520"/>
            <a:ext cx="640080" cy="6400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645920" y="423367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街头艺人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1645920" y="4754880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他弹 G 大调，你的歌也到 G 大调；还能把现场记进这个地点</a:t>
            </a:r>
            <a:endParaRPr lang="en-US" sz="1400" dirty="0"/>
          </a:p>
        </p:txBody>
      </p:sp>
      <p:sp>
        <p:nvSpPr>
          <p:cNvPr id="16" name="use 专注 · 入睡"/>
          <p:cNvSpPr/>
          <p:nvPr/>
        </p:nvSpPr>
        <p:spPr>
          <a:xfrm>
            <a:off x="6172200" y="3886200"/>
            <a:ext cx="5394960" cy="1874520"/>
          </a:xfrm>
          <a:prstGeom prst="roundRect">
            <a:avLst>
              <a:gd name="adj" fmla="val 8780"/>
            </a:avLst>
          </a:prstGeom>
          <a:solidFill>
            <a:srgbClr val="12151D">
              <a:alpha val="85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pic>
        <p:nvPicPr>
          <p:cNvPr id="17" name="icon hand" descr="/tmp/deck-25b57H/ic_han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4160520"/>
            <a:ext cx="640080" cy="64008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269480" y="423367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专注 · 入睡</a:t>
            </a:r>
            <a:endParaRPr lang="en-US" sz="2000" dirty="0"/>
          </a:p>
        </p:txBody>
      </p:sp>
      <p:sp>
        <p:nvSpPr>
          <p:cNvPr id="19" name="Text 13"/>
          <p:cNvSpPr txBox="1"/>
          <p:nvPr/>
        </p:nvSpPr>
        <p:spPr>
          <a:xfrm>
            <a:off x="7269480" y="4754880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声景：时间、天气和窗外的嗡鸣，生成只属于此刻的背景声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548640" y="6035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结果立刻可感知：踩在鼓点上的那一刻，就是这个产品的全部说服力。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完成度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已经在浏览器里跑起来了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~5 s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974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锁定环境拍子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383280" y="178308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0–2 ms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3383280" y="26974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锁定后的相位差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217920" y="178308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34 + 98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26974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前端单测 + 服务端测试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052560" y="178308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23 步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9052560" y="26974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端到端测试（含假麦克风）</a:t>
            </a:r>
            <a:endParaRPr lang="en-US" sz="1300" dirty="0"/>
          </a:p>
        </p:txBody>
      </p:sp>
      <p:sp>
        <p:nvSpPr>
          <p:cNvPr id="12" name="arch 输入（本机）"/>
          <p:cNvSpPr/>
          <p:nvPr/>
        </p:nvSpPr>
        <p:spPr>
          <a:xfrm>
            <a:off x="548640" y="3749040"/>
            <a:ext cx="2514600" cy="1920240"/>
          </a:xfrm>
          <a:prstGeom prst="roundRect">
            <a:avLst>
              <a:gd name="adj" fmla="val 8571"/>
            </a:avLst>
          </a:prstGeom>
          <a:solidFill>
            <a:srgbClr val="5CC8FF">
              <a:alpha val="12000"/>
            </a:srgbClr>
          </a:solidFill>
          <a:ln w="12700">
            <a:solidFill>
              <a:srgbClr val="5CC8FF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95020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5CC8FF"/>
                </a:solidFill>
              </a:rPr>
              <a:t>输入（本机）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48056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麦克风 · 加速度计 · 相机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063240" y="44805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arch 分析（本机）"/>
          <p:cNvSpPr/>
          <p:nvPr/>
        </p:nvSpPr>
        <p:spPr>
          <a:xfrm>
            <a:off x="3383280" y="3749040"/>
            <a:ext cx="2514600" cy="1920240"/>
          </a:xfrm>
          <a:prstGeom prst="roundRect">
            <a:avLst>
              <a:gd name="adj" fmla="val 8571"/>
            </a:avLst>
          </a:prstGeom>
          <a:solidFill>
            <a:srgbClr val="A08BFF">
              <a:alpha val="12000"/>
            </a:srgbClr>
          </a:solidFill>
          <a:ln w="12700">
            <a:solidFill>
              <a:srgbClr val="A08BFF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611880" y="395020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A08BFF"/>
                </a:solidFill>
              </a:rPr>
              <a:t>分析（本机）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3611880" y="448056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AudioWorklet 起音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16384 点 FFT 色度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897880" y="44805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arch 引擎（本机）"/>
          <p:cNvSpPr/>
          <p:nvPr/>
        </p:nvSpPr>
        <p:spPr>
          <a:xfrm>
            <a:off x="6217920" y="3749040"/>
            <a:ext cx="2514600" cy="1920240"/>
          </a:xfrm>
          <a:prstGeom prst="roundRect">
            <a:avLst>
              <a:gd name="adj" fmla="val 8571"/>
            </a:avLst>
          </a:prstGeom>
          <a:solidFill>
            <a:srgbClr val="D2F76A">
              <a:alpha val="12000"/>
            </a:srgbClr>
          </a:solidFill>
          <a:ln w="12700">
            <a:solidFill>
              <a:srgbClr val="D2F76A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46520" y="395020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D2F76A"/>
                </a:solidFill>
              </a:rPr>
              <a:t>引擎（本机）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448056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实时合成 · 锁相 · 移调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入景混音 · 侧链 · 录制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732520" y="44805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→</a:t>
            </a:r>
            <a:endParaRPr lang="en-US" sz="2000" dirty="0"/>
          </a:p>
        </p:txBody>
      </p:sp>
      <p:sp>
        <p:nvSpPr>
          <p:cNvPr id="24" name="arch 服务端"/>
          <p:cNvSpPr/>
          <p:nvPr/>
        </p:nvSpPr>
        <p:spPr>
          <a:xfrm>
            <a:off x="9052560" y="3749040"/>
            <a:ext cx="2514600" cy="1920240"/>
          </a:xfrm>
          <a:prstGeom prst="roundRect">
            <a:avLst>
              <a:gd name="adj" fmla="val 8571"/>
            </a:avLst>
          </a:prstGeom>
          <a:solidFill>
            <a:srgbClr val="3EE6C1">
              <a:alpha val="12000"/>
            </a:srgbClr>
          </a:solidFill>
          <a:ln w="12700">
            <a:solidFill>
              <a:srgbClr val="3EE6C1">
                <a:alpha val="5000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281160" y="395020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EE6C1"/>
                </a:solidFill>
              </a:rPr>
              <a:t>服务端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9281160" y="448056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只收共鸣指纹的数字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地点、AI 场景理解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端到端测试用合成的街头声当麦克风、合成的加速度当跑步，在真实浏览器里断言对拍、定调、步频引导、声景与片段；演示视频就是它录下来的。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对照评审标准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用户价值 · 可行性 · 创新性</a:t>
            </a:r>
            <a:endParaRPr lang="en-US" sz="3400" dirty="0"/>
          </a:p>
        </p:txBody>
      </p:sp>
      <p:sp>
        <p:nvSpPr>
          <p:cNvPr id="4" name="criteria 用户价值"/>
          <p:cNvSpPr/>
          <p:nvPr/>
        </p:nvSpPr>
        <p:spPr>
          <a:xfrm>
            <a:off x="548640" y="1783080"/>
            <a:ext cx="3520440" cy="3520440"/>
          </a:xfrm>
          <a:prstGeom prst="roundRect">
            <a:avLst>
              <a:gd name="adj" fmla="val 4675"/>
            </a:avLst>
          </a:prstGeom>
          <a:solidFill>
            <a:srgbClr val="12151D">
              <a:alpha val="85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pic>
        <p:nvPicPr>
          <p:cNvPr id="5" name="icon music" descr="/tmp/deck-25b57H/ic_mus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574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21305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D2F76A"/>
                </a:solidFill>
              </a:rPr>
              <a:t>用户价值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926080"/>
            <a:ext cx="30175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通勤、跑步、专注、入睡全天可用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零学习成本，开关一开立刻可感知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跑步有合拍率、能被音乐带着提速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环境声不上传，隐私友好</a:t>
            </a:r>
            <a:endParaRPr lang="en-US" sz="1350" dirty="0"/>
          </a:p>
        </p:txBody>
      </p:sp>
      <p:sp>
        <p:nvSpPr>
          <p:cNvPr id="8" name="criteria 可行性"/>
          <p:cNvSpPr/>
          <p:nvPr/>
        </p:nvSpPr>
        <p:spPr>
          <a:xfrm>
            <a:off x="4297680" y="1783080"/>
            <a:ext cx="3520440" cy="3520440"/>
          </a:xfrm>
          <a:prstGeom prst="roundRect">
            <a:avLst>
              <a:gd name="adj" fmla="val 4675"/>
            </a:avLst>
          </a:prstGeom>
          <a:solidFill>
            <a:srgbClr val="12151D">
              <a:alpha val="85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pic>
        <p:nvPicPr>
          <p:cNvPr id="9" name="icon shield" descr="/tmp/deck-25b57H/ic_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057400"/>
            <a:ext cx="566928" cy="56692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303520" y="21305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3EE6C1"/>
                </a:solidFill>
              </a:rPr>
              <a:t>可行性</a:t>
            </a:r>
            <a:endParaRPr lang="en-US" sz="2100" dirty="0"/>
          </a:p>
        </p:txBody>
      </p:sp>
      <p:sp>
        <p:nvSpPr>
          <p:cNvPr id="11" name="Text 7"/>
          <p:cNvSpPr txBox="1"/>
          <p:nvPr/>
        </p:nvSpPr>
        <p:spPr>
          <a:xfrm>
            <a:off x="4572000" y="2926080"/>
            <a:ext cx="30175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纯浏览器实时运行，已可部署上线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实测约 5 秒锁定，相位差 0–2 ms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34 项前端单测 + 98 项服务端 + 23 步 e2e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正式曲目：离线节拍 / 调 + 实时变速变调，太远就换歌</a:t>
            </a:r>
            <a:endParaRPr lang="en-US" sz="1350" dirty="0"/>
          </a:p>
        </p:txBody>
      </p:sp>
      <p:sp>
        <p:nvSpPr>
          <p:cNvPr id="12" name="criteria 创新性"/>
          <p:cNvSpPr/>
          <p:nvPr/>
        </p:nvSpPr>
        <p:spPr>
          <a:xfrm>
            <a:off x="8046720" y="1783080"/>
            <a:ext cx="3520440" cy="3520440"/>
          </a:xfrm>
          <a:prstGeom prst="roundRect">
            <a:avLst>
              <a:gd name="adj" fmla="val 4675"/>
            </a:avLst>
          </a:prstGeom>
          <a:solidFill>
            <a:srgbClr val="12151D">
              <a:alpha val="85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pic>
        <p:nvPicPr>
          <p:cNvPr id="13" name="icon sparkles" descr="/tmp/deck-25b57H/ic_sparkl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057400"/>
            <a:ext cx="566928" cy="56692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9052560" y="21305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A08BFF"/>
                </a:solidFill>
              </a:rPr>
              <a:t>创新性</a:t>
            </a:r>
            <a:endParaRPr lang="en-US" sz="2100" dirty="0"/>
          </a:p>
        </p:txBody>
      </p:sp>
      <p:sp>
        <p:nvSpPr>
          <p:cNvPr id="15" name="Text 10"/>
          <p:cNvSpPr txBox="1"/>
          <p:nvPr/>
        </p:nvSpPr>
        <p:spPr>
          <a:xfrm>
            <a:off x="8321040" y="2926080"/>
            <a:ext cx="30175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耳机的第三种模式：与环境合奏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在一首歌里连续对齐拍子相位与调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会主动引导步频；会听环境的声景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众包的城市节拍地图</a:t>
            </a:r>
            <a:endParaRPr lang="en-US" sz="1350" dirty="0"/>
          </a:p>
        </p:txBody>
      </p:sp>
      <p:sp>
        <p:nvSpPr>
          <p:cNvPr id="16" name="Text 11"/>
          <p:cNvSpPr txBox="1"/>
          <p:nvPr/>
        </p:nvSpPr>
        <p:spPr>
          <a:xfrm>
            <a:off x="548640" y="56235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一句话：降噪和通透之后，耳机的下一个模式是「共鸣」。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终极形态：AI 眼镜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看向谁，就跟谁合奏</a:t>
            </a:r>
            <a:endParaRPr lang="en-US" sz="3400" dirty="0"/>
          </a:p>
        </p:txBody>
      </p:sp>
      <p:pic>
        <p:nvPicPr>
          <p:cNvPr id="4" name="glasses concept" descr="/home/user/MusicHere/pitch/glasses-concep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6766560" cy="380619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57784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概念示意：看向街头艺人 → 拾音指向他，歌锁到他的鼓点与调；车流、广播被忽略。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870448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chemeClr val="accent2"/>
                </a:solidFill>
              </a:rPr>
              <a:t>难点与对策：扬声器回授 → 回声消除（播放内容已知）；常开的麦克风与相机 → 本机分析、不上传、指示灯与一键开关。</a:t>
            </a:r>
            <a:endParaRPr lang="en-US" sz="1000" dirty="0"/>
          </a:p>
        </p:txBody>
      </p:sp>
      <p:pic>
        <p:nvPicPr>
          <p:cNvPr id="7" name="icon headset" descr="/tmp/deck-25b57H/ic_heads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719072"/>
            <a:ext cx="502920" cy="5029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321040" y="170078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开放式扬声器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8321040" y="2029968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chemeClr val="tx2"/>
                </a:solidFill>
              </a:rPr>
              <a:t>世界本来就在耳朵里，错拍和跑调更明显——共鸣是刚需</a:t>
            </a:r>
            <a:endParaRPr lang="en-US" sz="1100" dirty="0"/>
          </a:p>
        </p:txBody>
      </p:sp>
      <p:pic>
        <p:nvPicPr>
          <p:cNvPr id="10" name="icon pulse" descr="/tmp/deck-25b57H/ic_pul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2606040"/>
            <a:ext cx="502920" cy="5029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321040" y="258775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内置扬声器、延迟可标定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8321040" y="2916936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chemeClr val="tx2"/>
                </a:solidFill>
              </a:rPr>
              <a:t>没有蓝牙耳机 150–250 ms 的不确定延迟，最适合毫秒级锁相</a:t>
            </a:r>
            <a:endParaRPr lang="en-US" sz="1100" dirty="0"/>
          </a:p>
        </p:txBody>
      </p:sp>
      <p:pic>
        <p:nvPicPr>
          <p:cNvPr id="13" name="icon camera" descr="/tmp/deck-25b57H/ic_camer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3493008"/>
            <a:ext cx="502920" cy="50292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8321040" y="347472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第一视角相机</a:t>
            </a:r>
            <a:endParaRPr lang="en-US" sz="1500" dirty="0"/>
          </a:p>
        </p:txBody>
      </p:sp>
      <p:sp>
        <p:nvSpPr>
          <p:cNvPr id="15" name="Text 9"/>
          <p:cNvSpPr txBox="1"/>
          <p:nvPr/>
        </p:nvSpPr>
        <p:spPr>
          <a:xfrm>
            <a:off x="8321040" y="3803904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chemeClr val="tx2"/>
                </a:solidFill>
              </a:rPr>
              <a:t>入景不用掏手机，持续看着眼前调混音</a:t>
            </a:r>
            <a:endParaRPr lang="en-US" sz="1100" dirty="0"/>
          </a:p>
        </p:txBody>
      </p:sp>
      <p:pic>
        <p:nvPicPr>
          <p:cNvPr id="16" name="icon walk" descr="/tmp/deck-25b57H/ic_wal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5240" y="4379976"/>
            <a:ext cx="502920" cy="50292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8321040" y="436168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头部运动传感器</a:t>
            </a:r>
            <a:endParaRPr lang="en-US" sz="1500" dirty="0"/>
          </a:p>
        </p:txBody>
      </p:sp>
      <p:sp>
        <p:nvSpPr>
          <p:cNvPr id="18" name="Text 11"/>
          <p:cNvSpPr txBox="1"/>
          <p:nvPr/>
        </p:nvSpPr>
        <p:spPr>
          <a:xfrm>
            <a:off x="8321040" y="4690872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chemeClr val="tx2"/>
                </a:solidFill>
              </a:rPr>
              <a:t>每一步头都会起伏，步频比口袋里的手机更稳</a:t>
            </a:r>
            <a:endParaRPr lang="en-US" sz="1100" dirty="0"/>
          </a:p>
        </p:txBody>
      </p:sp>
      <p:pic>
        <p:nvPicPr>
          <p:cNvPr id="19" name="icon ear" descr="/tmp/deck-25b57H/ic_e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5240" y="5266944"/>
            <a:ext cx="502920" cy="50292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8321040" y="524865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麦克风阵列</a:t>
            </a:r>
            <a:endParaRPr lang="en-US" sz="1500" dirty="0"/>
          </a:p>
        </p:txBody>
      </p:sp>
      <p:sp>
        <p:nvSpPr>
          <p:cNvPr id="21" name="Text 13"/>
          <p:cNvSpPr txBox="1"/>
          <p:nvPr/>
        </p:nvSpPr>
        <p:spPr>
          <a:xfrm>
            <a:off x="8321040" y="557784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chemeClr val="tx2"/>
                </a:solidFill>
              </a:rPr>
              <a:t>按视线方向拾音：选择跟谁合奏，而不是被整条街带着走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路线图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从一个网页，到 QQ 音乐播放器里的一个模式</a:t>
            </a:r>
            <a:endParaRPr lang="en-US" sz="3400" dirty="0"/>
          </a:p>
        </p:txBody>
      </p:sp>
      <p:sp>
        <p:nvSpPr>
          <p:cNvPr id="4" name="timeline"/>
          <p:cNvSpPr/>
          <p:nvPr/>
        </p:nvSpPr>
        <p:spPr>
          <a:xfrm>
            <a:off x="822960" y="2148840"/>
            <a:ext cx="10607040" cy="0"/>
          </a:xfrm>
          <a:prstGeom prst="line">
            <a:avLst/>
          </a:prstGeom>
          <a:noFill/>
          <a:ln w="190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5" name="dot 现在 · 已完成"/>
          <p:cNvSpPr/>
          <p:nvPr/>
        </p:nvSpPr>
        <p:spPr>
          <a:xfrm>
            <a:off x="685800" y="2011680"/>
            <a:ext cx="274320" cy="274320"/>
          </a:xfrm>
          <a:prstGeom prst="ellipse">
            <a:avLst/>
          </a:prstGeom>
          <a:solidFill>
            <a:srgbClr val="D2F76A"/>
          </a:solidFill>
          <a:ln w="12700">
            <a:solidFill>
              <a:srgbClr val="D2F76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514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D2F76A"/>
                </a:solidFill>
              </a:rPr>
              <a:t>现在 · 已完成</a:t>
            </a:r>
            <a:endParaRPr lang="en-US" sz="1900" dirty="0"/>
          </a:p>
        </p:txBody>
      </p:sp>
      <p:sp>
        <p:nvSpPr>
          <p:cNvPr id="7" name="road card 现在 · 已完成"/>
          <p:cNvSpPr/>
          <p:nvPr/>
        </p:nvSpPr>
        <p:spPr>
          <a:xfrm>
            <a:off x="548640" y="3063240"/>
            <a:ext cx="3520440" cy="2331720"/>
          </a:xfrm>
          <a:prstGeom prst="roundRect">
            <a:avLst>
              <a:gd name="adj" fmla="val 7059"/>
            </a:avLst>
          </a:prstGeom>
          <a:solidFill>
            <a:srgbClr val="12151D">
              <a:alpha val="85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291840"/>
            <a:ext cx="31089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街头：对拍 / 定调 / 入景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跑步：步频选歌、节拍引导、合拍率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声景：时间 / 天气 / 步子 / 嗡鸣生成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共鸣片段与共鸣指纹</a:t>
            </a:r>
            <a:endParaRPr lang="en-US" sz="1400" dirty="0"/>
          </a:p>
        </p:txBody>
      </p:sp>
      <p:sp>
        <p:nvSpPr>
          <p:cNvPr id="9" name="dot 下一步 · 3 个月"/>
          <p:cNvSpPr/>
          <p:nvPr/>
        </p:nvSpPr>
        <p:spPr>
          <a:xfrm>
            <a:off x="4434840" y="2011680"/>
            <a:ext cx="274320" cy="274320"/>
          </a:xfrm>
          <a:prstGeom prst="ellipse">
            <a:avLst/>
          </a:prstGeom>
          <a:solidFill>
            <a:srgbClr val="3EE6C1"/>
          </a:solidFill>
          <a:ln w="12700">
            <a:solidFill>
              <a:srgbClr val="3EE6C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97680" y="2514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3EE6C1"/>
                </a:solidFill>
              </a:rPr>
              <a:t>下一步 · 3 个月</a:t>
            </a:r>
            <a:endParaRPr lang="en-US" sz="1900" dirty="0"/>
          </a:p>
        </p:txBody>
      </p:sp>
      <p:sp>
        <p:nvSpPr>
          <p:cNvPr id="11" name="road card 下一步 · 3 个月"/>
          <p:cNvSpPr/>
          <p:nvPr/>
        </p:nvSpPr>
        <p:spPr>
          <a:xfrm>
            <a:off x="4297680" y="3063240"/>
            <a:ext cx="3520440" cy="2331720"/>
          </a:xfrm>
          <a:prstGeom prst="roundRect">
            <a:avLst>
              <a:gd name="adj" fmla="val 7059"/>
            </a:avLst>
          </a:prstGeom>
          <a:solidFill>
            <a:srgbClr val="12151D">
              <a:alpha val="85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26280" y="3291840"/>
            <a:ext cx="31089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正式曲目：离线节拍 / 调 + 实时变速变调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原生端：react-native-audio-api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真机与蓝牙耳机延迟校准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片段分享改为链接 + 参数</a:t>
            </a:r>
            <a:endParaRPr lang="en-US" sz="1400" dirty="0"/>
          </a:p>
        </p:txBody>
      </p:sp>
      <p:sp>
        <p:nvSpPr>
          <p:cNvPr id="13" name="dot 之后 · 6–12 个月"/>
          <p:cNvSpPr/>
          <p:nvPr/>
        </p:nvSpPr>
        <p:spPr>
          <a:xfrm>
            <a:off x="8183880" y="2011680"/>
            <a:ext cx="274320" cy="274320"/>
          </a:xfrm>
          <a:prstGeom prst="ellipse">
            <a:avLst/>
          </a:prstGeom>
          <a:solidFill>
            <a:srgbClr val="A08BFF"/>
          </a:solidFill>
          <a:ln w="12700">
            <a:solidFill>
              <a:srgbClr val="A08B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0" y="2514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A08BFF"/>
                </a:solidFill>
              </a:rPr>
              <a:t>之后 · 6–12 个月</a:t>
            </a:r>
            <a:endParaRPr lang="en-US" sz="1900" dirty="0"/>
          </a:p>
        </p:txBody>
      </p:sp>
      <p:sp>
        <p:nvSpPr>
          <p:cNvPr id="15" name="road card 之后 · 6–12 个月"/>
          <p:cNvSpPr/>
          <p:nvPr/>
        </p:nvSpPr>
        <p:spPr>
          <a:xfrm>
            <a:off x="8046720" y="3063240"/>
            <a:ext cx="3520440" cy="2331720"/>
          </a:xfrm>
          <a:prstGeom prst="roundRect">
            <a:avLst>
              <a:gd name="adj" fmla="val 7059"/>
            </a:avLst>
          </a:prstGeom>
          <a:solidFill>
            <a:srgbClr val="12151D">
              <a:alpha val="85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75320" y="3291840"/>
            <a:ext cx="31089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AI 眼镜版：看向谁，就跟谁合奏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与耳机通透模式联动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演出现场：观众与舞台同拍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开放城市节拍地图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7150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目标：成为 QQ 音乐播放器里与「降噪」「通透」并列的第三个开关，并成为 AI 眼镜上的原生音乐体验。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0"/>
            <a:ext cx="6858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5600" b="1" dirty="0">
                <a:solidFill>
                  <a:schemeClr val="accent1"/>
                </a:solidFill>
              </a:rPr>
              <a:t>让世界</a:t>
            </a:r>
            <a:endParaRPr lang="en-US" sz="5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5600" b="1" dirty="0">
                <a:solidFill>
                  <a:schemeClr val="accent1"/>
                </a:solidFill>
              </a:rPr>
              <a:t>为你的歌伴奏。</a:t>
            </a:r>
            <a:endParaRPr lang="en-US" sz="5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9776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共鸣 —— 降噪和通透之后，耳机的第三种模式。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120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谢谢 · 【队长姓名】</a:t>
            </a:r>
            <a:endParaRPr lang="en-US" sz="1800" dirty="0"/>
          </a:p>
        </p:txBody>
      </p:sp>
      <p:pic>
        <p:nvPicPr>
          <p:cNvPr id="5" name="phone r1-locked" descr="/tmp/deck-25b57H/ph_r1-lo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822960"/>
            <a:ext cx="2510842" cy="52120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此地有歌 · 城市夜色">
  <a:themeElements>
    <a:clrScheme name="此地有歌 · 城市夜色">
      <a:dk1>
        <a:srgbClr val="F4F5F7"/>
      </a:dk1>
      <a:lt1>
        <a:srgbClr val="07080C"/>
      </a:lt1>
      <a:dk2>
        <a:srgbClr val="A7ACB9"/>
      </a:dk2>
      <a:lt2>
        <a:srgbClr val="12151D"/>
      </a:lt2>
      <a:accent1>
        <a:srgbClr val="D2F76A"/>
      </a:accent1>
      <a:accent2>
        <a:srgbClr val="3EE6C1"/>
      </a:accent2>
      <a:accent3>
        <a:srgbClr val="5CC8FF"/>
      </a:accent3>
      <a:accent4>
        <a:srgbClr val="FF8A5B"/>
      </a:accent4>
      <a:accent5>
        <a:srgbClr val="A08BFF"/>
      </a:accent5>
      <a:accent6>
        <a:srgbClr val="FF7AC6"/>
      </a:accent6>
      <a:hlink>
        <a:srgbClr val="3EE6C1"/>
      </a:hlink>
      <a:folHlink>
        <a:srgbClr val="A08BFF"/>
      </a:folHlink>
    </a:clrScheme>
    <a:fontScheme name="此地有歌 · 城市夜色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共鸣 · 路演</dc:title>
  <dc:subject>PptxGenJS Presentation</dc:subject>
  <dc:creator>【队长姓名】</dc:creator>
  <cp:lastModifiedBy>【队长姓名】</cp:lastModifiedBy>
  <cp:revision>1</cp:revision>
  <dcterms:created xsi:type="dcterms:W3CDTF">2026-10-03T14:47:35Z</dcterms:created>
  <dcterms:modified xsi:type="dcterms:W3CDTF">2026-10-03T14:47:35Z</dcterms:modified>
</cp:coreProperties>
</file>