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0b135492-840f-fd5b-e4b3-55a8b9ad4063}">
          <p14:sldIdLst>
            <p14:sldId id="256"/>
          </p14:sldIdLst>
        </p14:section>
        <p14:section name="问题" id="{1a330fc9-44be-90e0-cff1-3c7d953a5f97}">
          <p14:sldIdLst>
            <p14:sldId id="257"/>
          </p14:sldIdLst>
        </p14:section>
        <p14:section name="方案" id="{3bcb2436-b4d5-c045-cbfc-c9deafb24a22}">
          <p14:sldIdLst>
            <p14:sldId id="258"/>
          </p14:sldIdLst>
        </p14:section>
        <p14:section name="玩法" id="{38d77854-24c5-5942-5d81-9fa74bb84099}">
          <p14:sldIdLst>
            <p14:sldId id="259"/>
          </p14:sldIdLst>
        </p14:section>
        <p14:section name="AI" id="{0bc15248-baac-42b6-b29a-9a8accc2b068}">
          <p14:sldIdLst>
            <p14:sldId id="260"/>
            <p14:sldId id="261"/>
            <p14:sldId id="263"/>
          </p14:sldIdLst>
        </p14:section>
        <p14:section name="在场" id="{c6662f96-095e-3584-0ce6-19eb8710633b}">
          <p14:sldIdLst>
            <p14:sldId id="262"/>
          </p14:sldIdLst>
        </p14:section>
        <p14:section name="完成度" id="{65b752a4-743b-d70f-dafc-cc2295214511}">
          <p14:sldIdLst>
            <p14:sldId id="264"/>
          </p14:sldIdLst>
        </p14:section>
        <p14:section name="价值" id="{45c202d9-5db7-9953-233e-7ffae758fc20}">
          <p14:sldIdLst>
            <p14:sldId id="265"/>
            <p14:sldId id="266"/>
          </p14:sldIdLst>
        </p14:section>
        <p14:section name="结尾" id="{0c4d8983-4222-2f8e-85b3-af52b41e048f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开场（20 秒）：大家好，我们的作品叫《此地有歌》——每个地方，都有它的背景音乐。今天的音乐推荐都在回答“你是谁”，我们想回答的是“你在哪、此刻是什么样”，并且让音乐在城市里玩起来。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问题（30 秒）：我们观察到三件事。第一，场景化听歌需求真实存在，但歌单是通用的，不知道“这里”。第二，地点的声音记忆在流失，街头艺人、livehouse 的现场没人记录。第三，音乐互动困在屏幕里，和真实世界没有关系。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方案（30 秒）：我们把歌钉在地点上。每个地点有三类歌单：应景、常听、现场。路人经过时按定位推荐；点赞、在听、打卡会改变推荐权重——这些真实行为，也会变成接下来要讲的猜歌题目。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此地知音（45 秒）：这是我们为“玩转音乐”设计的核心玩法。每个地点一局 5 道题，题目全部来自这里真实沉淀的数据：最受欢迎的歌、哪首歌有过现场、什么时候最热闹、留言的人在听哪首。其中一道由 AI 用 emoji 出谜，我们会检查谜面有没有泄露歌名。答得越快、连对越多分越高，人在现场再乘 1.2，每个地点都有一张知音榜。题库随用户行为自动生长，每个地方都不一样。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读懂此刻（35 秒）：用户拍一张照片或写一句心情，混元多模态模型把光线、色彩、心情解析成情绪坐标；然后在这个地点的人群记忆里，按权重、距离、情绪相似度和时段打分选歌。每一首都附一句有数据依据的理由。新地点没有数据时，由 AI 补充推荐，解决冷启动。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声音画像（20 秒）：每个地点自动生成一张声音画像：情绪构成、24 小时热度、高峰时段、常听歌手，以及 AI 写的一句“这里听起来像什么”。这些统计同时也是猜歌题目的来源。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在场交互（25 秒）：有些事只能在现场完成。声音漂流瓶只能在地点投放，下一个打卡的陌生人才能捡到。去过的地方会变成唱片架上的一张唱片。声音明信片一键分享，把好奇的人重新带回这个地方。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全链路（20 秒）：除了读懂此刻和出谜，AI 还负责推荐理由、新地点冷启动、声音画像和文案，以及内容审核。默认接入腾讯混元，没有配置时降级为本地规则引擎，界面上如实标注，保证任何环境下都能完整演示。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完成度（20 秒）：这不是概念稿。服务端 95 项自动化测试，端到端测试 18 步，演示视频就是它录下来的；一套代码覆盖 iOS、安卓和 Web，一条命令部署上线。猜歌的答案只在服务端、服务端计时，打卡要校验距离，防作弊。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对照评审标准（30 秒）：用户价值上，每一刻都有对的歌，猜歌让人真的更懂一个地方，漂流瓶和知音榜让陌生人互相看见。可行性上，三端一套代码、已可部署，测试完整，模型不可用时也不中断。创新性上，推荐的主语换成了地点和此刻，题库由真实行为自动生长，玩法只能在现场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路线图（15 秒）：现在核心功能都已完成。下一步接入 QQ 音乐曲库和播放 SDK，上线听前奏猜歌，用听歌识曲自动记录现场，先在校园和街区试点。之后开放商家和景区认领，联动演出票务。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结尾（10 秒）：每个地方，都有它的背景音乐。《此地有歌》让下一个路过的人，听见你在这里听见的。谢谢大家，欢迎提问。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_A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_B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此地有歌 · Build With AI 腾讯音乐首届高校 AI Hackathon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B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此地有歌 · Build With AI 腾讯音乐首届高校 AI Hackathon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Build With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AI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·  腾讯音乐首届高校 AI Hackathon  ·  赛道② 创新音乐产品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此地有歌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每个地方，都有它的背景音乐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走到一个地方，就能听到这里的人留下的歌；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用这里真实的故事猜歌，把一首歌留给下一个路过的人。</a:t>
            </a:r>
            <a:endParaRPr lang="en-US" sz="1400" dirty="0"/>
          </a:p>
        </p:txBody>
      </p:sp>
      <p:sp>
        <p:nvSpPr>
          <p:cNvPr id="6" name="chip 此地知音猜歌"/>
          <p:cNvSpPr/>
          <p:nvPr/>
        </p:nvSpPr>
        <p:spPr>
          <a:xfrm>
            <a:off x="640080" y="502920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D2F76A">
              <a:alpha val="20000"/>
            </a:srgbClr>
          </a:solidFill>
          <a:ln w="9525">
            <a:solidFill>
              <a:srgbClr val="D2F76A">
                <a:alpha val="6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50292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2F76A"/>
                </a:solidFill>
              </a:rPr>
              <a:t>此地知音猜歌</a:t>
            </a:r>
            <a:endParaRPr lang="en-US" sz="1200" dirty="0"/>
          </a:p>
        </p:txBody>
      </p:sp>
      <p:sp>
        <p:nvSpPr>
          <p:cNvPr id="8" name="chip AI 读懂此刻"/>
          <p:cNvSpPr/>
          <p:nvPr/>
        </p:nvSpPr>
        <p:spPr>
          <a:xfrm>
            <a:off x="2240280" y="5029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A08BFF">
              <a:alpha val="20000"/>
            </a:srgbClr>
          </a:solidFill>
          <a:ln w="9525">
            <a:solidFill>
              <a:srgbClr val="A08BFF">
                <a:alpha val="6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50292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8BFF"/>
                </a:solidFill>
              </a:rPr>
              <a:t>AI 读懂此刻</a:t>
            </a:r>
            <a:endParaRPr lang="en-US" sz="1200" dirty="0"/>
          </a:p>
        </p:txBody>
      </p:sp>
      <p:sp>
        <p:nvSpPr>
          <p:cNvPr id="10" name="chip 声音漂流瓶"/>
          <p:cNvSpPr/>
          <p:nvPr/>
        </p:nvSpPr>
        <p:spPr>
          <a:xfrm>
            <a:off x="3749040" y="502920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5CC8FF">
              <a:alpha val="20000"/>
            </a:srgbClr>
          </a:solidFill>
          <a:ln w="9525">
            <a:solidFill>
              <a:srgbClr val="5CC8FF">
                <a:alpha val="6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49040" y="502920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C8FF"/>
                </a:solidFill>
              </a:rPr>
              <a:t>声音漂流瓶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团队：【队长姓名】</a:t>
            </a:r>
            <a:endParaRPr lang="en-US" sz="1200" dirty="0"/>
          </a:p>
        </p:txBody>
      </p:sp>
      <p:pic>
        <p:nvPicPr>
          <p:cNvPr id="13" name="phone 02-now" descr="/tmp/deck-NKHWFu/ph_02-n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2202493" cy="4572000"/>
          </a:xfrm>
          <a:prstGeom prst="rect">
            <a:avLst/>
          </a:prstGeom>
        </p:spPr>
      </p:pic>
      <p:pic>
        <p:nvPicPr>
          <p:cNvPr id="14" name="phone 11-bottle" descr="/tmp/deck-NKHWFu/ph_11-bott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17320"/>
            <a:ext cx="2202493" cy="4572000"/>
          </a:xfrm>
          <a:prstGeom prst="rect">
            <a:avLst/>
          </a:prstGeom>
        </p:spPr>
      </p:pic>
      <p:pic>
        <p:nvPicPr>
          <p:cNvPr id="15" name="phone 18-quiz-emoji" descr="/tmp/deck-NKHWFu/ph_18-quiz-emoj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005840"/>
            <a:ext cx="2202493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问题洞察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推荐系统知道你是谁，却不知道你在哪</a:t>
            </a:r>
            <a:endParaRPr lang="en-US" sz="3400" dirty="0"/>
          </a:p>
        </p:txBody>
      </p:sp>
      <p:sp>
        <p:nvSpPr>
          <p:cNvPr id="4" name="pain card 1"/>
          <p:cNvSpPr/>
          <p:nvPr/>
        </p:nvSpPr>
        <p:spPr>
          <a:xfrm>
            <a:off x="548640" y="1965960"/>
            <a:ext cx="3520440" cy="3337560"/>
          </a:xfrm>
          <a:prstGeom prst="roundRect">
            <a:avLst>
              <a:gd name="adj" fmla="val 4932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list" descr="/tmp/deck-NKHWFu/ic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68580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通用歌单 ≠ 此刻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散步、通勤、等人时，人们会搜“适合傍晚江边听的歌”。但歌单是给所有人的，它不知道这条江、这个傍晚是什么样。</a:t>
            </a:r>
            <a:endParaRPr lang="en-US" sz="1400" dirty="0"/>
          </a:p>
        </p:txBody>
      </p:sp>
      <p:sp>
        <p:nvSpPr>
          <p:cNvPr id="8" name="pain card 2"/>
          <p:cNvSpPr/>
          <p:nvPr/>
        </p:nvSpPr>
        <p:spPr>
          <a:xfrm>
            <a:off x="4297680" y="1965960"/>
            <a:ext cx="3520440" cy="3337560"/>
          </a:xfrm>
          <a:prstGeom prst="roundRect">
            <a:avLst>
              <a:gd name="adj" fmla="val 4932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9" name="icon ghost" descr="/tmp/deck-NKHWFu/ic_gh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685800" cy="685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17720" y="3200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地点的声音在流失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461772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街头艺人的一首即兴、小 livehouse 的一场演出、咖啡馆一直循环的那首歌，没有任何平台记录，走了就没了。</a:t>
            </a:r>
            <a:endParaRPr lang="en-US" sz="1400" dirty="0"/>
          </a:p>
        </p:txBody>
      </p:sp>
      <p:sp>
        <p:nvSpPr>
          <p:cNvPr id="12" name="pain card 3"/>
          <p:cNvSpPr/>
          <p:nvPr/>
        </p:nvSpPr>
        <p:spPr>
          <a:xfrm>
            <a:off x="8046720" y="1965960"/>
            <a:ext cx="3520440" cy="3337560"/>
          </a:xfrm>
          <a:prstGeom prst="roundRect">
            <a:avLst>
              <a:gd name="adj" fmla="val 4932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3" name="icon people" descr="/tmp/deck-NKHWFu/ic_peop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28600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66760" y="3200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音乐互动困在屏幕里</a:t>
            </a:r>
            <a:endParaRPr lang="en-US" sz="2100" dirty="0"/>
          </a:p>
        </p:txBody>
      </p:sp>
      <p:sp>
        <p:nvSpPr>
          <p:cNvPr id="15" name="Text 10"/>
          <p:cNvSpPr txBox="1"/>
          <p:nvPr/>
        </p:nvSpPr>
        <p:spPr>
          <a:xfrm>
            <a:off x="836676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听歌、评论、打榜都在线上完成。两个人在同一个地方被同一首歌打动，却永远不会知道彼此。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我们想回答的是：你在哪，此刻是什么样——并且让人愿意出门去“玩”音乐。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解决方案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把歌钉在地点上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路过的人留下歌，后来的人在这里听到它。每个地点有三类歌单：</a:t>
            </a:r>
            <a:endParaRPr lang="en-US" sz="1500" dirty="0"/>
          </a:p>
        </p:txBody>
      </p:sp>
      <p:sp>
        <p:nvSpPr>
          <p:cNvPr id="5" name="chip 应景"/>
          <p:cNvSpPr/>
          <p:nvPr/>
        </p:nvSpPr>
        <p:spPr>
          <a:xfrm>
            <a:off x="548640" y="214884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3EE6C1">
              <a:alpha val="20000"/>
            </a:srgbClr>
          </a:solidFill>
          <a:ln w="9525">
            <a:solidFill>
              <a:srgbClr val="3EE6C1">
                <a:alpha val="6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488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E6C1"/>
                </a:solidFill>
              </a:rPr>
              <a:t>应景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路过时觉得“就是这首”，随手上传</a:t>
            </a:r>
            <a:endParaRPr lang="en-US" sz="1500" dirty="0"/>
          </a:p>
        </p:txBody>
      </p:sp>
      <p:sp>
        <p:nvSpPr>
          <p:cNvPr id="8" name="chip 常听"/>
          <p:cNvSpPr/>
          <p:nvPr/>
        </p:nvSpPr>
        <p:spPr>
          <a:xfrm>
            <a:off x="548640" y="286207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C8FF">
              <a:alpha val="20000"/>
            </a:srgbClr>
          </a:solidFill>
          <a:ln w="9525">
            <a:solidFill>
              <a:srgbClr val="5CC8FF">
                <a:alpha val="6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620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C8FF"/>
                </a:solidFill>
              </a:rPr>
              <a:t>常听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8620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这里的人真正在听的歌，自动统计</a:t>
            </a:r>
            <a:endParaRPr lang="en-US" sz="1500" dirty="0"/>
          </a:p>
        </p:txBody>
      </p:sp>
      <p:sp>
        <p:nvSpPr>
          <p:cNvPr id="11" name="chip 现场"/>
          <p:cNvSpPr/>
          <p:nvPr/>
        </p:nvSpPr>
        <p:spPr>
          <a:xfrm>
            <a:off x="548640" y="3575304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8A5B">
              <a:alpha val="20000"/>
            </a:srgbClr>
          </a:solidFill>
          <a:ln w="9525">
            <a:solidFill>
              <a:srgbClr val="FF8A5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57530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5B"/>
                </a:solidFill>
              </a:rPr>
              <a:t>现场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753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演唱会、即兴、街头艺人；官方记录 + 用户上传</a:t>
            </a:r>
            <a:endParaRPr lang="en-US" sz="1500" dirty="0"/>
          </a:p>
        </p:txBody>
      </p:sp>
      <p:sp>
        <p:nvSpPr>
          <p:cNvPr id="14" name="flow card"/>
          <p:cNvSpPr/>
          <p:nvPr/>
        </p:nvSpPr>
        <p:spPr>
          <a:xfrm>
            <a:off x="548640" y="4434840"/>
            <a:ext cx="6126480" cy="1691640"/>
          </a:xfrm>
          <a:prstGeom prst="roundRect">
            <a:avLst>
              <a:gd name="adj" fmla="val 973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5" name="icon pin" descr="/tmp/deck-NKHWFu/ic_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663440"/>
            <a:ext cx="548640" cy="54864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5349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经过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691640" y="4709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pic>
        <p:nvPicPr>
          <p:cNvPr id="18" name="icon music" descr="/tmp/deck-NKHWFu/ic_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4663440"/>
            <a:ext cx="548640" cy="5486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103120" y="5349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听 / 留下歌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3154680" y="4709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pic>
        <p:nvPicPr>
          <p:cNvPr id="21" name="icon flag" descr="/tmp/deck-NKHWFu/ic_fl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663440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566160" y="5349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打卡 · 猜歌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4709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pic>
        <p:nvPicPr>
          <p:cNvPr id="24" name="icon mail" descr="/tmp/deck-NKHWFu/ic_ma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466344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29200" y="5349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留给下一个人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822960" y="5715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点赞、在听、打卡都会改变推荐权重，也会变成猜歌的题目</a:t>
            </a:r>
            <a:endParaRPr lang="en-US" sz="1100" dirty="0"/>
          </a:p>
        </p:txBody>
      </p:sp>
      <p:pic>
        <p:nvPicPr>
          <p:cNvPr id="27" name="phone 03-now-memory" descr="/tmp/deck-NKHWFu/ph_03-now-memor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1325880"/>
            <a:ext cx="2334643" cy="4846320"/>
          </a:xfrm>
          <a:prstGeom prst="rect">
            <a:avLst/>
          </a:prstGeom>
        </p:spPr>
      </p:pic>
      <p:pic>
        <p:nvPicPr>
          <p:cNvPr id="28" name="phone 09-radar" descr="/tmp/deck-NKHWFu/ph_09-rad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1325880"/>
            <a:ext cx="2334643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让音乐玩起来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此地知音：你有多懂这个地方？</a:t>
            </a:r>
            <a:endParaRPr lang="en-US" sz="3400" dirty="0"/>
          </a:p>
        </p:txBody>
      </p:sp>
      <p:pic>
        <p:nvPicPr>
          <p:cNvPr id="4" name="phone 18-quiz-emoji" descr="/tmp/deck-NKHWFu/ph_18-quiz-emoj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2026294" cy="4206240"/>
          </a:xfrm>
          <a:prstGeom prst="rect">
            <a:avLst/>
          </a:prstGeom>
        </p:spPr>
      </p:pic>
      <p:pic>
        <p:nvPicPr>
          <p:cNvPr id="5" name="phone 19-quiz-reveal" descr="/tmp/deck-NKHWFu/ph_19-quiz-rev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2026294" cy="4206240"/>
          </a:xfrm>
          <a:prstGeom prst="rect">
            <a:avLst/>
          </a:prstGeom>
        </p:spPr>
      </p:pic>
      <p:pic>
        <p:nvPicPr>
          <p:cNvPr id="6" name="phone 20-quiz-result" descr="/tmp/deck-NKHWFu/ph_20-quiz-resu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91640"/>
            <a:ext cx="2026294" cy="4206240"/>
          </a:xfrm>
          <a:prstGeom prst="rect">
            <a:avLst/>
          </a:prstGeom>
        </p:spPr>
      </p:pic>
      <p:pic>
        <p:nvPicPr>
          <p:cNvPr id="7" name="icon sparkles" descr="/tmp/deck-NKHWFu/ic_sparkl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737360"/>
            <a:ext cx="566928" cy="566928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7818120" y="17190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AI 用 emoji 出谜</a:t>
            </a:r>
            <a:endParaRPr lang="en-US" sz="1700" dirty="0"/>
          </a:p>
        </p:txBody>
      </p:sp>
      <p:sp>
        <p:nvSpPr>
          <p:cNvPr id="9" name="Text 3"/>
          <p:cNvSpPr txBox="1"/>
          <p:nvPr/>
        </p:nvSpPr>
        <p:spPr>
          <a:xfrm>
            <a:off x="7818120" y="21031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谜面不许出现歌名和歌手，泄露就自动换成规则谜面</a:t>
            </a:r>
            <a:endParaRPr lang="en-US" sz="1250" dirty="0"/>
          </a:p>
        </p:txBody>
      </p:sp>
      <p:pic>
        <p:nvPicPr>
          <p:cNvPr id="10" name="icon layers" descr="/tmp/deck-NKHWFu/ic_lay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2816352"/>
            <a:ext cx="566928" cy="566928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7818120" y="27980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题目来自真实数据</a:t>
            </a:r>
            <a:endParaRPr lang="en-US" sz="1700" dirty="0"/>
          </a:p>
        </p:txBody>
      </p:sp>
      <p:sp>
        <p:nvSpPr>
          <p:cNvPr id="12" name="Text 5"/>
          <p:cNvSpPr txBox="1"/>
          <p:nvPr/>
        </p:nvSpPr>
        <p:spPr>
          <a:xfrm>
            <a:off x="7818120" y="31821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最受欢迎的歌、哪首有过现场、何时最热闹、听起来像什么、留言的人在听哪首</a:t>
            </a:r>
            <a:endParaRPr lang="en-US" sz="1250" dirty="0"/>
          </a:p>
        </p:txBody>
      </p:sp>
      <p:pic>
        <p:nvPicPr>
          <p:cNvPr id="13" name="icon pulse" descr="/tmp/deck-NKHWFu/ic_pul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895344"/>
            <a:ext cx="566928" cy="56692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7818120" y="38770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越快越准分越高</a:t>
            </a:r>
            <a:endParaRPr lang="en-US" sz="1700" dirty="0"/>
          </a:p>
        </p:txBody>
      </p:sp>
      <p:sp>
        <p:nvSpPr>
          <p:cNvPr id="15" name="Text 7"/>
          <p:cNvSpPr txBox="1"/>
          <p:nvPr/>
        </p:nvSpPr>
        <p:spPr>
          <a:xfrm>
            <a:off x="7818120" y="426110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答对 100 + 速度奖励 + 连对奖励；在现场答题 ×1.2</a:t>
            </a:r>
            <a:endParaRPr lang="en-US" sz="1250" dirty="0"/>
          </a:p>
        </p:txBody>
      </p:sp>
      <p:pic>
        <p:nvPicPr>
          <p:cNvPr id="16" name="icon flag" descr="/tmp/deck-NKHWFu/ic_fl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4974336"/>
            <a:ext cx="566928" cy="566928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818120" y="49560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知音榜 · 唱片架</a:t>
            </a:r>
            <a:endParaRPr lang="en-US" sz="1700" dirty="0"/>
          </a:p>
        </p:txBody>
      </p:sp>
      <p:sp>
        <p:nvSpPr>
          <p:cNvPr id="18" name="Text 9"/>
          <p:cNvSpPr txBox="1"/>
          <p:nvPr/>
        </p:nvSpPr>
        <p:spPr>
          <a:xfrm>
            <a:off x="7818120" y="534009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每个地点一张榜；去过、玩过的地方收进唱片架</a:t>
            </a:r>
            <a:endParaRPr lang="en-US" sz="1250" dirty="0"/>
          </a:p>
        </p:txBody>
      </p:sp>
      <p:sp>
        <p:nvSpPr>
          <p:cNvPr id="19" name="Text 10"/>
          <p:cNvSpPr txBox="1"/>
          <p:nvPr/>
        </p:nvSpPr>
        <p:spPr>
          <a:xfrm>
            <a:off x="7086600" y="5989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题库随真实行为自动生长，每个地方的题都不一样。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核心 AI 能力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AI 读懂此刻：拍一下，听这里</a:t>
            </a:r>
            <a:endParaRPr lang="en-US" sz="3400" dirty="0"/>
          </a:p>
        </p:txBody>
      </p:sp>
      <p:pic>
        <p:nvPicPr>
          <p:cNvPr id="4" name="phone 04-listen" descr="/tmp/deck-NKHWFu/ph_04-lis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202493" cy="4572000"/>
          </a:xfrm>
          <a:prstGeom prst="rect">
            <a:avLst/>
          </a:prstGeom>
        </p:spPr>
      </p:pic>
      <p:pic>
        <p:nvPicPr>
          <p:cNvPr id="5" name="phone 08-scene-photo" descr="/tmp/deck-NKHWFu/ph_08-scene-pho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45920"/>
            <a:ext cx="2202493" cy="4572000"/>
          </a:xfrm>
          <a:prstGeom prst="rect">
            <a:avLst/>
          </a:prstGeom>
        </p:spPr>
      </p:pic>
      <p:pic>
        <p:nvPicPr>
          <p:cNvPr id="6" name="icon camera" descr="/tmp/deck-NKHWFu/ic_came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91640"/>
            <a:ext cx="640080" cy="6400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309360" y="167335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  输入此刻</a:t>
            </a:r>
            <a:endParaRPr lang="en-US" sz="1800" dirty="0"/>
          </a:p>
        </p:txBody>
      </p:sp>
      <p:sp>
        <p:nvSpPr>
          <p:cNvPr id="8" name="Text 3"/>
          <p:cNvSpPr txBox="1"/>
          <p:nvPr/>
        </p:nvSpPr>
        <p:spPr>
          <a:xfrm>
            <a:off x="6309360" y="207568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一张照片、一句心情（都可选），加上时段与位置</a:t>
            </a:r>
            <a:endParaRPr lang="en-US" sz="1300" dirty="0"/>
          </a:p>
        </p:txBody>
      </p:sp>
      <p:pic>
        <p:nvPicPr>
          <p:cNvPr id="9" name="icon sparkles" descr="/tmp/deck-NKHWFu/ic_sparkl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2807208"/>
            <a:ext cx="640080" cy="6400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309360" y="2788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  多模态理解</a:t>
            </a:r>
            <a:endParaRPr lang="en-US" sz="1800" dirty="0"/>
          </a:p>
        </p:txBody>
      </p:sp>
      <p:sp>
        <p:nvSpPr>
          <p:cNvPr id="11" name="Text 5"/>
          <p:cNvSpPr txBox="1"/>
          <p:nvPr/>
        </p:nvSpPr>
        <p:spPr>
          <a:xfrm>
            <a:off x="6309360" y="3191256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腾讯混元视觉 + 文本模型，把画面与心情解析为 14 维情绪坐标（能量 × 明亮）</a:t>
            </a:r>
            <a:endParaRPr lang="en-US" sz="1300" dirty="0"/>
          </a:p>
        </p:txBody>
      </p:sp>
      <p:pic>
        <p:nvPicPr>
          <p:cNvPr id="12" name="icon layers" descr="/tmp/deck-NKHWFu/ic_lay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3922776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309360" y="39044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  检索人群记忆</a:t>
            </a:r>
            <a:endParaRPr lang="en-US" sz="1800" dirty="0"/>
          </a:p>
        </p:txBody>
      </p:sp>
      <p:sp>
        <p:nvSpPr>
          <p:cNvPr id="14" name="Text 7"/>
          <p:cNvSpPr txBox="1"/>
          <p:nvPr/>
        </p:nvSpPr>
        <p:spPr>
          <a:xfrm>
            <a:off x="6309360" y="4306824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这里的歌按 权重 × 距离 × 情绪相似度 × 时段 打分，选出 6 首</a:t>
            </a:r>
            <a:endParaRPr lang="en-US" sz="1300" dirty="0"/>
          </a:p>
        </p:txBody>
      </p:sp>
      <p:pic>
        <p:nvPicPr>
          <p:cNvPr id="15" name="icon chat" descr="/tmp/deck-NKHWFu/ic_ch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5038344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309360" y="5020056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  有依据的理由</a:t>
            </a:r>
            <a:endParaRPr lang="en-US" sz="1800" dirty="0"/>
          </a:p>
        </p:txBody>
      </p:sp>
      <p:sp>
        <p:nvSpPr>
          <p:cNvPr id="17" name="Text 9"/>
          <p:cNvSpPr txBox="1"/>
          <p:nvPr/>
        </p:nvSpPr>
        <p:spPr>
          <a:xfrm>
            <a:off x="6309360" y="5422392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“近 30 天 7 人在这里听过，傍晚最常被点播”；数据不足时由 AI 补充新发现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AI 声音画像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每个地方听起来是什么样</a:t>
            </a:r>
            <a:endParaRPr lang="en-US" sz="3400" dirty="0"/>
          </a:p>
        </p:txBody>
      </p:sp>
      <p:sp>
        <p:nvSpPr>
          <p:cNvPr id="4" name="quote card"/>
          <p:cNvSpPr/>
          <p:nvPr/>
        </p:nvSpPr>
        <p:spPr>
          <a:xfrm>
            <a:off x="548640" y="1783080"/>
            <a:ext cx="6949440" cy="1554480"/>
          </a:xfrm>
          <a:prstGeom prst="roundRect">
            <a:avLst>
              <a:gd name="adj" fmla="val 10588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1168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i="1" dirty="0">
                <a:solidFill>
                  <a:schemeClr val="accent1"/>
                </a:solidFill>
              </a:rPr>
              <a:t>“江边步道听起来是「夜色」里带点「热血」，黄昏 18–20 点最热闹；人们常在这里听 Beyond、五月天，也曾响起过 1 次现场。”</a:t>
            </a:r>
            <a:endParaRPr lang="en-US" sz="1800" dirty="0"/>
          </a:p>
        </p:txBody>
      </p:sp>
      <p:pic>
        <p:nvPicPr>
          <p:cNvPr id="6" name="icon pulse" descr="/tmp/deck-NKHWFu/ic_pul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0"/>
            <a:ext cx="566928" cy="5669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36393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情绪构成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398678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14 种情绪的占比</a:t>
            </a:r>
            <a:endParaRPr lang="en-US" sz="1300" dirty="0"/>
          </a:p>
        </p:txBody>
      </p:sp>
      <p:pic>
        <p:nvPicPr>
          <p:cNvPr id="9" name="icon data" descr="/tmp/deck-NKHWFu/ic_d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657600"/>
            <a:ext cx="566928" cy="5669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00600" y="36393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24 小时热度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800600" y="398678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自动找出高峰时段</a:t>
            </a:r>
            <a:endParaRPr lang="en-US" sz="1300" dirty="0"/>
          </a:p>
        </p:txBody>
      </p:sp>
      <p:pic>
        <p:nvPicPr>
          <p:cNvPr id="12" name="icon mic" descr="/tmp/deck-NKHWFu/ic_m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482803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常听歌手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517550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这里的人的口味</a:t>
            </a:r>
            <a:endParaRPr lang="en-US" sz="1300" dirty="0"/>
          </a:p>
        </p:txBody>
      </p:sp>
      <p:pic>
        <p:nvPicPr>
          <p:cNvPr id="15" name="icon sparkles" descr="/tmp/deck-NKHWFu/ic_sparkl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4846320"/>
            <a:ext cx="566928" cy="56692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800600" y="482803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一句话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4800600" y="517550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数据变了才重写</a:t>
            </a:r>
            <a:endParaRPr lang="en-US" sz="1300" dirty="0"/>
          </a:p>
        </p:txBody>
      </p:sp>
      <p:pic>
        <p:nvPicPr>
          <p:cNvPr id="18" name="phone 13-live" descr="/tmp/deck-NKHWFu/ph_13-li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737360"/>
            <a:ext cx="2158443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只有到了现场才能完成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把线上的音乐互动拉回真实世界</a:t>
            </a:r>
            <a:endParaRPr lang="en-US" sz="3400" dirty="0"/>
          </a:p>
        </p:txBody>
      </p:sp>
      <p:sp>
        <p:nvSpPr>
          <p:cNvPr id="4" name="moment card 声音漂流瓶"/>
          <p:cNvSpPr/>
          <p:nvPr/>
        </p:nvSpPr>
        <p:spPr>
          <a:xfrm>
            <a:off x="548640" y="1691640"/>
            <a:ext cx="3520440" cy="44348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shot 11-bottle" descr="/tmp/deck-NKHWFu/ph_11-bot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9125" y="1920240"/>
            <a:ext cx="1299471" cy="2697480"/>
          </a:xfrm>
          <a:prstGeom prst="rect">
            <a:avLst/>
          </a:prstGeom>
        </p:spPr>
      </p:pic>
      <p:pic>
        <p:nvPicPr>
          <p:cNvPr id="6" name="icon mail" descr="/tmp/deck-NKHWFu/ic_m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75488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48006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声音漂流瓶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303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一首歌 + 一句话，只能在现场投；下一个来打卡的陌生人才能捡到。</a:t>
            </a:r>
            <a:endParaRPr lang="en-US" sz="1250" dirty="0"/>
          </a:p>
        </p:txBody>
      </p:sp>
      <p:sp>
        <p:nvSpPr>
          <p:cNvPr id="9" name="moment card 唱片架"/>
          <p:cNvSpPr/>
          <p:nvPr/>
        </p:nvSpPr>
        <p:spPr>
          <a:xfrm>
            <a:off x="4297680" y="1691640"/>
            <a:ext cx="3520440" cy="44348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0" name="shot 21-me-records" descr="/tmp/deck-NKHWFu/ph_21-me-recor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165" y="1920240"/>
            <a:ext cx="1299471" cy="2697480"/>
          </a:xfrm>
          <a:prstGeom prst="rect">
            <a:avLst/>
          </a:prstGeom>
        </p:spPr>
      </p:pic>
      <p:pic>
        <p:nvPicPr>
          <p:cNvPr id="11" name="icon music" descr="/tmp/deck-NKHWFu/ic_musi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754880"/>
            <a:ext cx="457200" cy="4572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166360" y="48006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唱片架</a:t>
            </a:r>
            <a:endParaRPr lang="en-US" sz="1800" dirty="0"/>
          </a:p>
        </p:txBody>
      </p:sp>
      <p:sp>
        <p:nvSpPr>
          <p:cNvPr id="13" name="Text 7"/>
          <p:cNvSpPr txBox="1"/>
          <p:nvPr/>
        </p:nvSpPr>
        <p:spPr>
          <a:xfrm>
            <a:off x="4572000" y="5303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去过、玩过的地方各收一张唱片，贴纸颜色是那里的情绪。</a:t>
            </a:r>
            <a:endParaRPr lang="en-US" sz="1250" dirty="0"/>
          </a:p>
        </p:txBody>
      </p:sp>
      <p:sp>
        <p:nvSpPr>
          <p:cNvPr id="14" name="moment card 声音明信片"/>
          <p:cNvSpPr/>
          <p:nvPr/>
        </p:nvSpPr>
        <p:spPr>
          <a:xfrm>
            <a:off x="8046720" y="1691640"/>
            <a:ext cx="3520440" cy="44348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5" name="shot 17-postcard-export" descr="/tmp/deck-NKHWFu/ph_17-postcard-expo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638" y="1920240"/>
            <a:ext cx="2058603" cy="2697480"/>
          </a:xfrm>
          <a:prstGeom prst="rect">
            <a:avLst/>
          </a:prstGeom>
        </p:spPr>
      </p:pic>
      <p:pic>
        <p:nvPicPr>
          <p:cNvPr id="16" name="icon image" descr="/tmp/deck-NKHWFu/ic_im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4754880"/>
            <a:ext cx="457200" cy="45720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915400" y="48006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声音明信片</a:t>
            </a:r>
            <a:endParaRPr lang="en-US" sz="1800" dirty="0"/>
          </a:p>
        </p:txBody>
      </p:sp>
      <p:sp>
        <p:nvSpPr>
          <p:cNvPr id="18" name="Text 10"/>
          <p:cNvSpPr txBox="1"/>
          <p:nvPr/>
        </p:nvSpPr>
        <p:spPr>
          <a:xfrm>
            <a:off x="8321040" y="5303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地点图 + 歌 + AI 写的一句话，一键存图分享，把好奇的人带回现场。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AI 贯穿全链路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六处 AI，每一处都解决一个具体问题</a:t>
            </a:r>
            <a:endParaRPr lang="en-US" sz="3400" dirty="0"/>
          </a:p>
        </p:txBody>
      </p:sp>
      <p:sp>
        <p:nvSpPr>
          <p:cNvPr id="4" name="ai card 读懂此刻"/>
          <p:cNvSpPr/>
          <p:nvPr/>
        </p:nvSpPr>
        <p:spPr>
          <a:xfrm>
            <a:off x="548640" y="1783080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camera" descr="/tmp/deck-NKHWFu/ic_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1305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读懂此刻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614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照片 + 心情 → 情绪坐标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“此刻的感觉”无法用规则表达</a:t>
            </a:r>
            <a:endParaRPr lang="en-US" sz="1200" dirty="0"/>
          </a:p>
        </p:txBody>
      </p:sp>
      <p:sp>
        <p:nvSpPr>
          <p:cNvPr id="9" name="ai card AI 出谜"/>
          <p:cNvSpPr/>
          <p:nvPr/>
        </p:nvSpPr>
        <p:spPr>
          <a:xfrm>
            <a:off x="4297680" y="1783080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0" name="icon sparkles" descr="/tmp/deck-NKHWFu/ic_spark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1305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AI 出谜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7614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用 emoji 描述一首歌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1546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让猜歌好玩，且自动防泄露</a:t>
            </a:r>
            <a:endParaRPr lang="en-US" sz="1200" dirty="0"/>
          </a:p>
        </p:txBody>
      </p:sp>
      <p:sp>
        <p:nvSpPr>
          <p:cNvPr id="14" name="ai card 推荐理由"/>
          <p:cNvSpPr/>
          <p:nvPr/>
        </p:nvSpPr>
        <p:spPr>
          <a:xfrm>
            <a:off x="8046720" y="1783080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5" name="icon chat" descr="/tmp/deck-NKHWFu/ic_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05740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1305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推荐理由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7614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基于真实数据生成一句解释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1546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让推荐可解释、可信</a:t>
            </a:r>
            <a:endParaRPr lang="en-US" sz="1200" dirty="0"/>
          </a:p>
        </p:txBody>
      </p:sp>
      <p:sp>
        <p:nvSpPr>
          <p:cNvPr id="19" name="ai card 冷启动"/>
          <p:cNvSpPr/>
          <p:nvPr/>
        </p:nvSpPr>
        <p:spPr>
          <a:xfrm>
            <a:off x="548640" y="3931920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20" name="icon snow" descr="/tmp/deck-NKHWFu/ic_sn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06240"/>
            <a:ext cx="548640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2793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冷启动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03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新地点由大模型补充推荐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3035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地点类产品最难的一关</a:t>
            </a:r>
            <a:endParaRPr lang="en-US" sz="1200" dirty="0"/>
          </a:p>
        </p:txBody>
      </p:sp>
      <p:sp>
        <p:nvSpPr>
          <p:cNvPr id="24" name="ai card 声音画像 · 帮我写"/>
          <p:cNvSpPr/>
          <p:nvPr/>
        </p:nvSpPr>
        <p:spPr>
          <a:xfrm>
            <a:off x="4297680" y="3931920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25" name="icon pulse" descr="/tmp/deck-NKHWFu/ic_pul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20624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2793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声音画像 · 帮我写</a:t>
            </a:r>
            <a:endParaRPr lang="en-US" sz="19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49103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统计 → 有温度的描述与文案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3035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降低分享门槛</a:t>
            </a:r>
            <a:endParaRPr lang="en-US" sz="1200" dirty="0"/>
          </a:p>
        </p:txBody>
      </p:sp>
      <p:sp>
        <p:nvSpPr>
          <p:cNvPr id="29" name="ai card 内容审核"/>
          <p:cNvSpPr/>
          <p:nvPr/>
        </p:nvSpPr>
        <p:spPr>
          <a:xfrm>
            <a:off x="8046720" y="3931920"/>
            <a:ext cx="3520440" cy="1920240"/>
          </a:xfrm>
          <a:prstGeom prst="roundRect">
            <a:avLst>
              <a:gd name="adj" fmla="val 8571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30" name="icon shield" descr="/tmp/deck-NKHWFu/ic_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420624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2793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内容审核</a:t>
            </a:r>
            <a:endParaRPr lang="en-US" sz="19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49103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规则 + 大模型双重把关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3035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社区安全，失败时放行不阻塞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默认接入腾讯混元（OpenAI 兼容接口，可替换）；未配置大模型时自动降级为本地规则引擎，并在界面如实标注。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完成度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不是概念稿，是能跑起来的产品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95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项服务端自动化测试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18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743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步端到端测试，演示视频由它录制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 端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743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iOS / Android / Web 一套代码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 条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743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命令部署上线</a:t>
            </a:r>
            <a:endParaRPr lang="en-US" sz="1300" dirty="0"/>
          </a:p>
        </p:txBody>
      </p:sp>
      <p:sp>
        <p:nvSpPr>
          <p:cNvPr id="12" name="arch 手机 App"/>
          <p:cNvSpPr/>
          <p:nvPr/>
        </p:nvSpPr>
        <p:spPr>
          <a:xfrm>
            <a:off x="548640" y="3840480"/>
            <a:ext cx="2514600" cy="1828800"/>
          </a:xfrm>
          <a:prstGeom prst="roundRect">
            <a:avLst>
              <a:gd name="adj" fmla="val 9000"/>
            </a:avLst>
          </a:prstGeom>
          <a:solidFill>
            <a:srgbClr val="D2F76A">
              <a:alpha val="12000"/>
            </a:srgbClr>
          </a:solidFill>
          <a:ln w="12700">
            <a:solidFill>
              <a:srgbClr val="D2F76A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416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2F76A"/>
                </a:solidFill>
              </a:rPr>
              <a:t>手机 App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720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Expo · React Native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此刻 / 地点 / 听这里 / 分享 / 我的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4526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arch API 服务"/>
          <p:cNvSpPr/>
          <p:nvPr/>
        </p:nvSpPr>
        <p:spPr>
          <a:xfrm>
            <a:off x="3383280" y="3840480"/>
            <a:ext cx="2514600" cy="1828800"/>
          </a:xfrm>
          <a:prstGeom prst="roundRect">
            <a:avLst>
              <a:gd name="adj" fmla="val 9000"/>
            </a:avLst>
          </a:prstGeom>
          <a:solidFill>
            <a:srgbClr val="3EE6C1">
              <a:alpha val="12000"/>
            </a:srgbClr>
          </a:solidFill>
          <a:ln w="12700">
            <a:solidFill>
              <a:srgbClr val="3EE6C1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11880" y="40416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EE6C1"/>
                </a:solidFill>
              </a:rPr>
              <a:t>API 服务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5720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Fastify · SQLite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歌单、权重、打卡、猜歌、漂流瓶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4526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arch AI 层"/>
          <p:cNvSpPr/>
          <p:nvPr/>
        </p:nvSpPr>
        <p:spPr>
          <a:xfrm>
            <a:off x="6217920" y="3840480"/>
            <a:ext cx="2514600" cy="1828800"/>
          </a:xfrm>
          <a:prstGeom prst="roundRect">
            <a:avLst>
              <a:gd name="adj" fmla="val 9000"/>
            </a:avLst>
          </a:prstGeom>
          <a:solidFill>
            <a:srgbClr val="A08BFF">
              <a:alpha val="12000"/>
            </a:srgbClr>
          </a:solidFill>
          <a:ln w="12700">
            <a:solidFill>
              <a:srgbClr val="A08BFF">
                <a:alpha val="5000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40416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08BFF"/>
                </a:solidFill>
              </a:rPr>
              <a:t>AI 层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5720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腾讯混元（文本 + 视觉）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本地规则引擎兜底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732520" y="4526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arch QQ 音乐"/>
          <p:cNvSpPr/>
          <p:nvPr/>
        </p:nvSpPr>
        <p:spPr>
          <a:xfrm>
            <a:off x="9052560" y="3840480"/>
            <a:ext cx="2514600" cy="1828800"/>
          </a:xfrm>
          <a:prstGeom prst="roundRect">
            <a:avLst>
              <a:gd name="adj" fmla="val 9000"/>
            </a:avLst>
          </a:prstGeom>
          <a:solidFill>
            <a:srgbClr val="5CC8FF">
              <a:alpha val="12000"/>
            </a:srgbClr>
          </a:solidFill>
          <a:ln w="12700">
            <a:solidFill>
              <a:srgbClr val="5CC8FF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40416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CC8FF"/>
                </a:solidFill>
              </a:rPr>
              <a:t>QQ 音乐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45720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一键跳转播放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（规划：曲库与播放 SDK）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对照评审标准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用户价值 · 可行性 · 创新性</a:t>
            </a:r>
            <a:endParaRPr lang="en-US" sz="3400" dirty="0"/>
          </a:p>
        </p:txBody>
      </p:sp>
      <p:sp>
        <p:nvSpPr>
          <p:cNvPr id="4" name="criteria 用户价值"/>
          <p:cNvSpPr/>
          <p:nvPr/>
        </p:nvSpPr>
        <p:spPr>
          <a:xfrm>
            <a:off x="548640" y="1783080"/>
            <a:ext cx="3520440" cy="35204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music" descr="/tmp/deck-NKHWFu/ic_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566928" cy="5669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130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D2F76A"/>
                </a:solidFill>
              </a:rPr>
              <a:t>用户价值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出门的每一刻都有“对的歌”，依据是这里、此刻、这些人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猜歌有内容可玩：玩完真的更懂这个地方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漂流瓶、知音榜让同一地点的陌生人互相看见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街头艺人和小型演出第一次被记录</a:t>
            </a:r>
            <a:endParaRPr lang="en-US" sz="1350" dirty="0"/>
          </a:p>
        </p:txBody>
      </p:sp>
      <p:sp>
        <p:nvSpPr>
          <p:cNvPr id="8" name="criteria 可行性"/>
          <p:cNvSpPr/>
          <p:nvPr/>
        </p:nvSpPr>
        <p:spPr>
          <a:xfrm>
            <a:off x="4297680" y="1783080"/>
            <a:ext cx="3520440" cy="35204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9" name="icon shield" descr="/tmp/deck-NKHWFu/ic_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566928" cy="5669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03520" y="2130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3EE6C1"/>
                </a:solidFill>
              </a:rPr>
              <a:t>可行性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292608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三端一套代码，已可部署上线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95 项服务端测试 + 18 步端到端测试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大模型不可用时自动降级，功能不中断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下一步接 QQ 音乐曲库与播放 SDK</a:t>
            </a:r>
            <a:endParaRPr lang="en-US" sz="1350" dirty="0"/>
          </a:p>
        </p:txBody>
      </p:sp>
      <p:sp>
        <p:nvSpPr>
          <p:cNvPr id="12" name="criteria 创新性"/>
          <p:cNvSpPr/>
          <p:nvPr/>
        </p:nvSpPr>
        <p:spPr>
          <a:xfrm>
            <a:off x="8046720" y="1783080"/>
            <a:ext cx="3520440" cy="35204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3" name="icon sparkles" descr="/tmp/deck-NKHWFu/ic_sparkl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057400"/>
            <a:ext cx="566928" cy="56692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052560" y="2130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08BFF"/>
                </a:solidFill>
              </a:rPr>
              <a:t>创新性</a:t>
            </a:r>
            <a:endParaRPr lang="en-US" sz="2100" dirty="0"/>
          </a:p>
        </p:txBody>
      </p:sp>
      <p:sp>
        <p:nvSpPr>
          <p:cNvPr id="15" name="Text 10"/>
          <p:cNvSpPr txBox="1"/>
          <p:nvPr/>
        </p:nvSpPr>
        <p:spPr>
          <a:xfrm>
            <a:off x="8321040" y="292608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推荐的主语从“人”换成“地点 + 此刻”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用地点的人群记忆出题，题库自动生长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只能在现场完成的玩法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每句理由、每条冷知识都有真实数据依据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56235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一句话：让每个地方都有自己的背景音乐，也让音乐成为出门的理由。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路线图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从一个 App，到 QQ 音乐里的一个入口</a:t>
            </a:r>
            <a:endParaRPr lang="en-US" sz="3400" dirty="0"/>
          </a:p>
        </p:txBody>
      </p:sp>
      <p:sp>
        <p:nvSpPr>
          <p:cNvPr id="4" name="timeline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190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" name="dot 现在 · 已完成"/>
          <p:cNvSpPr/>
          <p:nvPr/>
        </p:nvSpPr>
        <p:spPr>
          <a:xfrm>
            <a:off x="685800" y="2011680"/>
            <a:ext cx="274320" cy="274320"/>
          </a:xfrm>
          <a:prstGeom prst="ellipse">
            <a:avLst/>
          </a:prstGeom>
          <a:solidFill>
            <a:srgbClr val="D2F76A"/>
          </a:solidFill>
          <a:ln w="12700">
            <a:solidFill>
              <a:srgbClr val="D2F7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514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2F76A"/>
                </a:solidFill>
              </a:rPr>
              <a:t>现在 · 已完成</a:t>
            </a:r>
            <a:endParaRPr lang="en-US" sz="1900" dirty="0"/>
          </a:p>
        </p:txBody>
      </p:sp>
      <p:sp>
        <p:nvSpPr>
          <p:cNvPr id="7" name="road card 现在 · 已完成"/>
          <p:cNvSpPr/>
          <p:nvPr/>
        </p:nvSpPr>
        <p:spPr>
          <a:xfrm>
            <a:off x="548640" y="306324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3108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三类地点歌单与推荐权重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读懂此刻 / 声音画像 / 审核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此地知音猜歌、知音榜、唱片架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漂流瓶、明信片、跳转 QQ 音乐</a:t>
            </a:r>
            <a:endParaRPr lang="en-US" sz="1400" dirty="0"/>
          </a:p>
        </p:txBody>
      </p:sp>
      <p:sp>
        <p:nvSpPr>
          <p:cNvPr id="9" name="dot 下一步 · 3 个月"/>
          <p:cNvSpPr/>
          <p:nvPr/>
        </p:nvSpPr>
        <p:spPr>
          <a:xfrm>
            <a:off x="4434840" y="2011680"/>
            <a:ext cx="274320" cy="274320"/>
          </a:xfrm>
          <a:prstGeom prst="ellipse">
            <a:avLst/>
          </a:prstGeom>
          <a:solidFill>
            <a:srgbClr val="3EE6C1"/>
          </a:solidFill>
          <a:ln w="12700">
            <a:solidFill>
              <a:srgbClr val="3EE6C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2514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E6C1"/>
                </a:solidFill>
              </a:rPr>
              <a:t>下一步 · 3 个月</a:t>
            </a:r>
            <a:endParaRPr lang="en-US" sz="1900" dirty="0"/>
          </a:p>
        </p:txBody>
      </p:sp>
      <p:sp>
        <p:nvSpPr>
          <p:cNvPr id="11" name="road card 下一步 · 3 个月"/>
          <p:cNvSpPr/>
          <p:nvPr/>
        </p:nvSpPr>
        <p:spPr>
          <a:xfrm>
            <a:off x="4297680" y="306324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3291840"/>
            <a:ext cx="3108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接入 QQ 音乐曲库与播放 SDK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上线“听前奏猜歌”题型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听歌识曲自动记录“现场”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在 2–3 个校园 / 街区试点</a:t>
            </a:r>
            <a:endParaRPr lang="en-US" sz="1400" dirty="0"/>
          </a:p>
        </p:txBody>
      </p:sp>
      <p:sp>
        <p:nvSpPr>
          <p:cNvPr id="13" name="dot 之后 · 6–12 个月"/>
          <p:cNvSpPr/>
          <p:nvPr/>
        </p:nvSpPr>
        <p:spPr>
          <a:xfrm>
            <a:off x="8183880" y="2011680"/>
            <a:ext cx="274320" cy="274320"/>
          </a:xfrm>
          <a:prstGeom prst="ellipse">
            <a:avLst/>
          </a:prstGeom>
          <a:solidFill>
            <a:srgbClr val="A08BFF"/>
          </a:solidFill>
          <a:ln w="12700">
            <a:solidFill>
              <a:srgbClr val="A08B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514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08BFF"/>
                </a:solidFill>
              </a:rPr>
              <a:t>之后 · 6–12 个月</a:t>
            </a:r>
            <a:endParaRPr lang="en-US" sz="1900" dirty="0"/>
          </a:p>
        </p:txBody>
      </p:sp>
      <p:sp>
        <p:nvSpPr>
          <p:cNvPr id="15" name="road card 之后 · 6–12 个月"/>
          <p:cNvSpPr/>
          <p:nvPr/>
        </p:nvSpPr>
        <p:spPr>
          <a:xfrm>
            <a:off x="8046720" y="306324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3291840"/>
            <a:ext cx="3108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商家 / 景区认领地点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演出排期与票务联动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城市声音地图与年度报告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715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目标：成为 QQ 音乐里的「附近 · 此刻」入口，让每一次出门都有一首对的歌。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5200" b="1" dirty="0">
                <a:solidFill>
                  <a:schemeClr val="accent1"/>
                </a:solidFill>
              </a:rPr>
              <a:t>每个地方，</a:t>
            </a:r>
            <a:endParaRPr lang="en-US" sz="5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200" b="1" dirty="0">
                <a:solidFill>
                  <a:schemeClr val="accent1"/>
                </a:solidFill>
              </a:rPr>
              <a:t>都有它的背景音乐。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此地有歌 —— 让下一个路过的人，听见你在这里听见的。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谢谢 · 【队长姓名】</a:t>
            </a:r>
            <a:endParaRPr lang="en-US" sz="1800" dirty="0"/>
          </a:p>
        </p:txBody>
      </p:sp>
      <p:pic>
        <p:nvPicPr>
          <p:cNvPr id="5" name="phone 20-quiz-result" descr="/tmp/deck-NKHWFu/ph_20-quiz-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822960"/>
            <a:ext cx="2510842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此地有歌 · 城市夜色">
  <a:themeElements>
    <a:clrScheme name="此地有歌 · 城市夜色">
      <a:dk1>
        <a:srgbClr val="F4F5F7"/>
      </a:dk1>
      <a:lt1>
        <a:srgbClr val="07080C"/>
      </a:lt1>
      <a:dk2>
        <a:srgbClr val="A7ACB9"/>
      </a:dk2>
      <a:lt2>
        <a:srgbClr val="12151D"/>
      </a:lt2>
      <a:accent1>
        <a:srgbClr val="D2F76A"/>
      </a:accent1>
      <a:accent2>
        <a:srgbClr val="3EE6C1"/>
      </a:accent2>
      <a:accent3>
        <a:srgbClr val="5CC8FF"/>
      </a:accent3>
      <a:accent4>
        <a:srgbClr val="FF8A5B"/>
      </a:accent4>
      <a:accent5>
        <a:srgbClr val="A08BFF"/>
      </a:accent5>
      <a:accent6>
        <a:srgbClr val="FF7AC6"/>
      </a:accent6>
      <a:hlink>
        <a:srgbClr val="3EE6C1"/>
      </a:hlink>
      <a:folHlink>
        <a:srgbClr val="A08BFF"/>
      </a:folHlink>
    </a:clrScheme>
    <a:fontScheme name="此地有歌 · 城市夜色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此地有歌 · 路演</dc:title>
  <dc:subject>PptxGenJS Presentation</dc:subject>
  <dc:creator>【队长姓名】</dc:creator>
  <cp:lastModifiedBy>【队长姓名】</cp:lastModifiedBy>
  <cp:revision>1</cp:revision>
  <dcterms:created xsi:type="dcterms:W3CDTF">2026-10-03T08:38:31Z</dcterms:created>
  <dcterms:modified xsi:type="dcterms:W3CDTF">2026-10-03T08:38:31Z</dcterms:modified>
</cp:coreProperties>
</file>