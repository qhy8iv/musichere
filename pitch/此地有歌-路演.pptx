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9b18b213-a08e-3ae3-aa75-d9a1c2066831}">
          <p14:sldIdLst>
            <p14:sldId id="256"/>
          </p14:sldIdLst>
        </p14:section>
        <p14:section name="问题" id="{e9318ef2-031b-9baa-25fd-07cacb8014a4}">
          <p14:sldIdLst>
            <p14:sldId id="257"/>
          </p14:sldIdLst>
        </p14:section>
        <p14:section name="方案" id="{18057b02-83f0-512d-e6d8-23aa41313be9}">
          <p14:sldIdLst>
            <p14:sldId id="258"/>
          </p14:sldIdLst>
        </p14:section>
        <p14:section name="AI" id="{ebc944b8-3c48-eba8-d0ab-bc918ccf4e0a}">
          <p14:sldIdLst>
            <p14:sldId id="259"/>
            <p14:sldId id="260"/>
            <p14:sldId id="262"/>
          </p14:sldIdLst>
        </p14:section>
        <p14:section name="在场" id="{f024e17e-28a7-e8d9-627f-0f0fb6f488ef}">
          <p14:sldIdLst>
            <p14:sldId id="261"/>
          </p14:sldIdLst>
        </p14:section>
        <p14:section name="完成度" id="{6299ee8a-79b3-54c2-0fd7-205dcbaa6f7a}">
          <p14:sldIdLst>
            <p14:sldId id="263"/>
          </p14:sldIdLst>
        </p14:section>
        <p14:section name="商业" id="{c67cdf9c-fd8a-8b3a-b61a-f43311b00219}">
          <p14:sldIdLst>
            <p14:sldId id="264"/>
            <p14:sldId id="265"/>
          </p14:sldIdLst>
        </p14:section>
        <p14:section name="结尾" id="{cfe0db86-e7c5-a98a-c90b-2cd31add98e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开场（20 秒）：大家好，我们的作品叫《此地有歌》——每个地方，都有它的背景音乐。今天的音乐推荐都在回答“你是谁”，我们想回答的是“你在哪、此刻是什么样”。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问题（35 秒）：我们观察到三件事。第一，场景化听歌需求真实存在，但歌单是通用的，不知道“这里”。第二，地点的声音记忆在流失，街头艺人、livehouse 的现场没人记录。第三，音乐社交缺少在场感。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方案（35 秒）：我们把歌钉在地点上。每个地点有三类歌单：应景、常听、现场。路人经过时，按定位随机推荐；点赞、播放、打卡都会改变推荐权重。右边是首页的“此地记忆”和附近的声景雷达。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读懂此刻（50 秒）：这是我们的核心。用户拍一张照片或写一句心情，混元多模态模型把光线、色彩、心情解析成 14 维情绪坐标；然后在这个地点的人群记忆里，按权重、距离、情绪相似度和时段打分选歌。每一首都附一句有数据依据的理由，比如“近 30 天 7 人在这里听过”。新地点没有数据时，由 AI 补充推荐，解决冷启动。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声音画像（25 秒）：每个地点会自动生成一张声音画像：情绪构成、24 小时热度、高峰时段、常听歌手，以及 AI 写的一句“这里听起来像什么”。画像按数据签名缓存，数据变了才重写，既省调用又始终新鲜。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在场交互（30 秒）：有些事只能在现场完成。声音漂流瓶只能在地点投放，下一个打卡的陌生人才能捡到。打卡还能生成声音明信片，一键分享，把好奇的人重新带回这个地方。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全链路（25 秒）：除了读懂此刻和声音画像，AI 还负责推荐理由、新地点冷启动、帮用户写分享文案，以及内容审核。默认接入腾讯混元，没有配置时会降级为本地规则引擎，界面上如实标注，保证任何环境下都能完整演示。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完成度（25 秒）：这不是概念稿。后端 84 项自动化测试，前端 16 步端到端测试并自动录制了演示视频，一套代码覆盖 iOS、安卓和 Web，一条命令部署。架构上，App、API、AI 层分离，播放导流到 QQ 音乐。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商业价值（30 秒）：对 QQ 音乐，这是一个新的推荐维度“在哪听”，带来线下打开时机和社交裂变。对文旅、商圈和门店，可以认领地点、发布官方声音。对演出和音乐人，现场歌单就是宣传渠道，能衔接票务。最后，地点×时段×情绪×歌曲的数据，是平台独有的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路线图（20 秒）：现在核心功能都已完成。下一步接入 QQ 音乐曲库和播放 SDK，用听歌识曲自动记录现场，并在两三个街区试点。之后开放商家和景区后台，联动演出票务，做城市声音地图。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结尾（15 秒）：每个地方，都有它的背景音乐。《此地有歌》让下一个路过的人，听见你在这里听见的。谢谢大家，欢迎提问。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A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B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此地有歌 · Q Music Ideas AI Hackathon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此地有歌 · Q Music Ideas AI Hackathon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 Music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Ideas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·  AI Hackathon 2026  ·  赛道 A 创新音乐产品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此地有歌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每个地方，都有它的背景音乐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走到一个地方，打开 App，就能听到这里的人留下的歌；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AI 读懂此刻的光线与心情，再从人群记忆里为你挑一首。</a:t>
            </a:r>
            <a:endParaRPr lang="en-US" sz="1400" dirty="0"/>
          </a:p>
        </p:txBody>
      </p:sp>
      <p:sp>
        <p:nvSpPr>
          <p:cNvPr id="6" name="chip AI 读懂此刻"/>
          <p:cNvSpPr/>
          <p:nvPr/>
        </p:nvSpPr>
        <p:spPr>
          <a:xfrm>
            <a:off x="640080" y="5029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A08BFF">
              <a:alpha val="20000"/>
            </a:srgbClr>
          </a:solidFill>
          <a:ln w="9525">
            <a:solidFill>
              <a:srgbClr val="A08B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5029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8BFF"/>
                </a:solidFill>
              </a:rPr>
              <a:t>AI 读懂此刻</a:t>
            </a:r>
            <a:endParaRPr lang="en-US" sz="1200" dirty="0"/>
          </a:p>
        </p:txBody>
      </p:sp>
      <p:sp>
        <p:nvSpPr>
          <p:cNvPr id="8" name="chip AI 声音画像"/>
          <p:cNvSpPr/>
          <p:nvPr/>
        </p:nvSpPr>
        <p:spPr>
          <a:xfrm>
            <a:off x="2148840" y="5029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5CC8FF">
              <a:alpha val="20000"/>
            </a:srgbClr>
          </a:solidFill>
          <a:ln w="9525">
            <a:solidFill>
              <a:srgbClr val="5CC8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5029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C8FF"/>
                </a:solidFill>
              </a:rPr>
              <a:t>AI 声音画像</a:t>
            </a:r>
            <a:endParaRPr lang="en-US" sz="1200" dirty="0"/>
          </a:p>
        </p:txBody>
      </p:sp>
      <p:sp>
        <p:nvSpPr>
          <p:cNvPr id="10" name="chip 声音漂流瓶"/>
          <p:cNvSpPr/>
          <p:nvPr/>
        </p:nvSpPr>
        <p:spPr>
          <a:xfrm>
            <a:off x="3657600" y="502920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D2F76A">
              <a:alpha val="20000"/>
            </a:srgbClr>
          </a:solidFill>
          <a:ln w="9525">
            <a:solidFill>
              <a:srgbClr val="D2F76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5029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F76A"/>
                </a:solidFill>
              </a:rPr>
              <a:t>声音漂流瓶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团队：【队长姓名】</a:t>
            </a:r>
            <a:endParaRPr lang="en-US" sz="1200" dirty="0"/>
          </a:p>
        </p:txBody>
      </p:sp>
      <p:pic>
        <p:nvPicPr>
          <p:cNvPr id="13" name="phone 02-now" descr="/tmp/deck-Dr25I3/ph_02-n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2202493" cy="4572000"/>
          </a:xfrm>
          <a:prstGeom prst="rect">
            <a:avLst/>
          </a:prstGeom>
        </p:spPr>
      </p:pic>
      <p:pic>
        <p:nvPicPr>
          <p:cNvPr id="14" name="phone 11-bottle" descr="/tmp/deck-Dr25I3/ph_11-bott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17320"/>
            <a:ext cx="2202493" cy="4572000"/>
          </a:xfrm>
          <a:prstGeom prst="rect">
            <a:avLst/>
          </a:prstGeom>
        </p:spPr>
      </p:pic>
      <p:pic>
        <p:nvPicPr>
          <p:cNvPr id="15" name="phone 05-scene" descr="/tmp/deck-Dr25I3/ph_05-sce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005840"/>
            <a:ext cx="220249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问题洞察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推荐系统知道你是谁，却不知道你在哪</a:t>
            </a:r>
            <a:endParaRPr lang="en-US" sz="3400" dirty="0"/>
          </a:p>
        </p:txBody>
      </p:sp>
      <p:sp>
        <p:nvSpPr>
          <p:cNvPr id="4" name="pain card 1"/>
          <p:cNvSpPr/>
          <p:nvPr/>
        </p:nvSpPr>
        <p:spPr>
          <a:xfrm>
            <a:off x="548640" y="1965960"/>
            <a:ext cx="3520440" cy="3337560"/>
          </a:xfrm>
          <a:prstGeom prst="roundRect">
            <a:avLst>
              <a:gd name="adj" fmla="val 4932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icon list" descr="/tmp/deck-Dr25I3/ic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通用歌单 ≠ 此刻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947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散步、通勤、等人时，人们会搜“适合傍晚江边听的歌”。但歌单是给所有人的，它不知道这条江、这个傍晚是什么样。</a:t>
            </a:r>
            <a:endParaRPr lang="en-US" sz="1400" dirty="0"/>
          </a:p>
        </p:txBody>
      </p:sp>
      <p:sp>
        <p:nvSpPr>
          <p:cNvPr id="8" name="pain card 2"/>
          <p:cNvSpPr/>
          <p:nvPr/>
        </p:nvSpPr>
        <p:spPr>
          <a:xfrm>
            <a:off x="4297680" y="1965960"/>
            <a:ext cx="3520440" cy="3337560"/>
          </a:xfrm>
          <a:prstGeom prst="roundRect">
            <a:avLst>
              <a:gd name="adj" fmla="val 4932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9" name="icon ghost" descr="/tmp/deck-Dr25I3/ic_gh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8600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1772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地点的声音在流失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4617720" y="37947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街头艺人的一首即兴、小 livehouse 的一场演出、咖啡馆一直循环的那首歌，没有任何平台记录，走了就没了。</a:t>
            </a:r>
            <a:endParaRPr lang="en-US" sz="1400" dirty="0"/>
          </a:p>
        </p:txBody>
      </p:sp>
      <p:sp>
        <p:nvSpPr>
          <p:cNvPr id="12" name="pain card 3"/>
          <p:cNvSpPr/>
          <p:nvPr/>
        </p:nvSpPr>
        <p:spPr>
          <a:xfrm>
            <a:off x="8046720" y="1965960"/>
            <a:ext cx="3520440" cy="3337560"/>
          </a:xfrm>
          <a:prstGeom prst="roundRect">
            <a:avLst>
              <a:gd name="adj" fmla="val 4932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3" name="icon people" descr="/tmp/deck-Dr25I3/ic_peo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8600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6676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音乐社交缺少在场感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8366760" y="37947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评论区在线上，和真实世界脱节。两个人在同一个地方被同一首歌打动，却永远不会知道彼此。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我们想回答的是：你在哪，此刻是什么样。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解决方案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把歌钉在地点上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路过的人留下歌，后来的人在这里听到它。每个地点有三类歌单：</a:t>
            </a:r>
            <a:endParaRPr lang="en-US" sz="1500" dirty="0"/>
          </a:p>
        </p:txBody>
      </p:sp>
      <p:sp>
        <p:nvSpPr>
          <p:cNvPr id="5" name="chip 应景"/>
          <p:cNvSpPr/>
          <p:nvPr/>
        </p:nvSpPr>
        <p:spPr>
          <a:xfrm>
            <a:off x="548640" y="214884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3EE6C1">
              <a:alpha val="20000"/>
            </a:srgbClr>
          </a:solidFill>
          <a:ln w="9525">
            <a:solidFill>
              <a:srgbClr val="3EE6C1">
                <a:alpha val="6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E6C1"/>
                </a:solidFill>
              </a:rPr>
              <a:t>应景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路过时觉得“就是这首”，随手上传</a:t>
            </a:r>
            <a:endParaRPr lang="en-US" sz="1500" dirty="0"/>
          </a:p>
        </p:txBody>
      </p:sp>
      <p:sp>
        <p:nvSpPr>
          <p:cNvPr id="8" name="chip 常听"/>
          <p:cNvSpPr/>
          <p:nvPr/>
        </p:nvSpPr>
        <p:spPr>
          <a:xfrm>
            <a:off x="548640" y="286207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C8FF">
              <a:alpha val="20000"/>
            </a:srgbClr>
          </a:solidFill>
          <a:ln w="9525">
            <a:solidFill>
              <a:srgbClr val="5CC8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C8FF"/>
                </a:solidFill>
              </a:rPr>
              <a:t>常听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8620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这里的人真正在听的歌，自动统计</a:t>
            </a:r>
            <a:endParaRPr lang="en-US" sz="1500" dirty="0"/>
          </a:p>
        </p:txBody>
      </p:sp>
      <p:sp>
        <p:nvSpPr>
          <p:cNvPr id="11" name="chip 现场"/>
          <p:cNvSpPr/>
          <p:nvPr/>
        </p:nvSpPr>
        <p:spPr>
          <a:xfrm>
            <a:off x="548640" y="3575304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8A5B">
              <a:alpha val="20000"/>
            </a:srgbClr>
          </a:solidFill>
          <a:ln w="9525">
            <a:solidFill>
              <a:srgbClr val="FF8A5B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753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5B"/>
                </a:solidFill>
              </a:rPr>
              <a:t>现场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753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演唱会、即兴、街头艺人；官方记录 + 用户上传</a:t>
            </a:r>
            <a:endParaRPr lang="en-US" sz="1500" dirty="0"/>
          </a:p>
        </p:txBody>
      </p:sp>
      <p:sp>
        <p:nvSpPr>
          <p:cNvPr id="14" name="flow card"/>
          <p:cNvSpPr/>
          <p:nvPr/>
        </p:nvSpPr>
        <p:spPr>
          <a:xfrm>
            <a:off x="548640" y="4434840"/>
            <a:ext cx="6126480" cy="1691640"/>
          </a:xfrm>
          <a:prstGeom prst="roundRect">
            <a:avLst>
              <a:gd name="adj" fmla="val 9730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5" name="icon pin" descr="/tmp/deck-Dr25I3/ic_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663440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5349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经过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4709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pic>
        <p:nvPicPr>
          <p:cNvPr id="18" name="icon music" descr="/tmp/deck-Dr25I3/ic_mus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466344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103120" y="5349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留下歌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3154680" y="4709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pic>
        <p:nvPicPr>
          <p:cNvPr id="21" name="icon flag" descr="/tmp/deck-Dr25I3/ic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66344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566160" y="5349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打卡沉淀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617720" y="4709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pic>
        <p:nvPicPr>
          <p:cNvPr id="24" name="icon sparkles" descr="/tmp/deck-Dr25I3/ic_spark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466344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029200" y="5349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推荐给下一个人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715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点赞、播放、打卡都会改变推荐权重</a:t>
            </a:r>
            <a:endParaRPr lang="en-US" sz="1100" dirty="0"/>
          </a:p>
        </p:txBody>
      </p:sp>
      <p:pic>
        <p:nvPicPr>
          <p:cNvPr id="27" name="phone 03-now-memory" descr="/tmp/deck-Dr25I3/ph_03-now-mem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325880"/>
            <a:ext cx="2334643" cy="4846320"/>
          </a:xfrm>
          <a:prstGeom prst="rect">
            <a:avLst/>
          </a:prstGeom>
        </p:spPr>
      </p:pic>
      <p:pic>
        <p:nvPicPr>
          <p:cNvPr id="28" name="phone 09-radar" descr="/tmp/deck-Dr25I3/ph_09-ra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1325880"/>
            <a:ext cx="2334643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核心 AI 能力 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 读懂此刻：拍一下，听这里</a:t>
            </a:r>
            <a:endParaRPr lang="en-US" sz="3400" dirty="0"/>
          </a:p>
        </p:txBody>
      </p:sp>
      <p:pic>
        <p:nvPicPr>
          <p:cNvPr id="4" name="phone 04-listen" descr="/tmp/deck-Dr25I3/ph_04-lis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202493" cy="4572000"/>
          </a:xfrm>
          <a:prstGeom prst="rect">
            <a:avLst/>
          </a:prstGeom>
        </p:spPr>
      </p:pic>
      <p:pic>
        <p:nvPicPr>
          <p:cNvPr id="5" name="phone 08-scene-photo" descr="/tmp/deck-Dr25I3/ph_08-scene-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45920"/>
            <a:ext cx="2202493" cy="4572000"/>
          </a:xfrm>
          <a:prstGeom prst="rect">
            <a:avLst/>
          </a:prstGeom>
        </p:spPr>
      </p:pic>
      <p:pic>
        <p:nvPicPr>
          <p:cNvPr id="6" name="icon camera" descr="/tmp/deck-Dr25I3/ic_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91640"/>
            <a:ext cx="640080" cy="6400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309360" y="16733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 输入此刻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6309360" y="207568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一张照片、一句心情（都可选），加上时段与位置</a:t>
            </a:r>
            <a:endParaRPr lang="en-US" sz="1300" dirty="0"/>
          </a:p>
        </p:txBody>
      </p:sp>
      <p:pic>
        <p:nvPicPr>
          <p:cNvPr id="9" name="icon sparkles" descr="/tmp/deck-Dr25I3/ic_spark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807208"/>
            <a:ext cx="640080" cy="6400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30936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  多模态理解</a:t>
            </a:r>
            <a:endParaRPr lang="en-US" sz="1800" dirty="0"/>
          </a:p>
        </p:txBody>
      </p:sp>
      <p:sp>
        <p:nvSpPr>
          <p:cNvPr id="11" name="Text 5"/>
          <p:cNvSpPr txBox="1"/>
          <p:nvPr/>
        </p:nvSpPr>
        <p:spPr>
          <a:xfrm>
            <a:off x="6309360" y="319125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腾讯混元视觉 + 文本模型，把画面与心情解析为 14 维情绪坐标（能量 × 明亮）</a:t>
            </a:r>
            <a:endParaRPr lang="en-US" sz="1300" dirty="0"/>
          </a:p>
        </p:txBody>
      </p:sp>
      <p:pic>
        <p:nvPicPr>
          <p:cNvPr id="12" name="icon layers" descr="/tmp/deck-Dr25I3/ic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922776"/>
            <a:ext cx="640080" cy="64008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309360" y="39044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  检索人群记忆</a:t>
            </a:r>
            <a:endParaRPr lang="en-US" sz="1800" dirty="0"/>
          </a:p>
        </p:txBody>
      </p:sp>
      <p:sp>
        <p:nvSpPr>
          <p:cNvPr id="14" name="Text 7"/>
          <p:cNvSpPr txBox="1"/>
          <p:nvPr/>
        </p:nvSpPr>
        <p:spPr>
          <a:xfrm>
            <a:off x="6309360" y="430682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这里的歌按 权重 × 距离 × 情绪相似度 × 时段 打分，选出 6 首</a:t>
            </a:r>
            <a:endParaRPr lang="en-US" sz="1300" dirty="0"/>
          </a:p>
        </p:txBody>
      </p:sp>
      <p:pic>
        <p:nvPicPr>
          <p:cNvPr id="15" name="icon chat" descr="/tmp/deck-Dr25I3/ic_ch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5038344"/>
            <a:ext cx="640080" cy="64008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309360" y="50200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  有依据的理由</a:t>
            </a:r>
            <a:endParaRPr lang="en-US" sz="1800" dirty="0"/>
          </a:p>
        </p:txBody>
      </p:sp>
      <p:sp>
        <p:nvSpPr>
          <p:cNvPr id="17" name="Text 9"/>
          <p:cNvSpPr txBox="1"/>
          <p:nvPr/>
        </p:nvSpPr>
        <p:spPr>
          <a:xfrm>
            <a:off x="6309360" y="542239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“近 30 天 7 人在这里听过，傍晚最常被点播”；数据不足时由 AI 补充新发现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核心 AI 能力 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 声音画像：每个地方听起来是什么样</a:t>
            </a:r>
            <a:endParaRPr lang="en-US" sz="3400" dirty="0"/>
          </a:p>
        </p:txBody>
      </p:sp>
      <p:sp>
        <p:nvSpPr>
          <p:cNvPr id="4" name="quote card"/>
          <p:cNvSpPr/>
          <p:nvPr/>
        </p:nvSpPr>
        <p:spPr>
          <a:xfrm>
            <a:off x="548640" y="1783080"/>
            <a:ext cx="6949440" cy="1554480"/>
          </a:xfrm>
          <a:prstGeom prst="roundRect">
            <a:avLst>
              <a:gd name="adj" fmla="val 10588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chemeClr val="accent1"/>
                </a:solidFill>
              </a:rPr>
              <a:t>“江边步道听起来是「夜色」里带点「热血」，黄昏 18–20 点最热闹；人们常在这里听 Beyond、五月天，也曾响起过 1 次现场。”</a:t>
            </a:r>
            <a:endParaRPr lang="en-US" sz="1800" dirty="0"/>
          </a:p>
        </p:txBody>
      </p:sp>
      <p:pic>
        <p:nvPicPr>
          <p:cNvPr id="6" name="icon pulse" descr="/tmp/deck-Dr25I3/ic_pul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566928" cy="5669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3639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情绪构成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39867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14 种情绪的占比</a:t>
            </a:r>
            <a:endParaRPr lang="en-US" sz="1300" dirty="0"/>
          </a:p>
        </p:txBody>
      </p:sp>
      <p:pic>
        <p:nvPicPr>
          <p:cNvPr id="9" name="icon data" descr="/tmp/deck-Dr25I3/ic_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65760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00600" y="3639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24 小时热度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800600" y="39867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自动找出高峰时段</a:t>
            </a:r>
            <a:endParaRPr lang="en-US" sz="1300" dirty="0"/>
          </a:p>
        </p:txBody>
      </p:sp>
      <p:pic>
        <p:nvPicPr>
          <p:cNvPr id="12" name="icon mic" descr="/tmp/deck-Dr25I3/ic_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46320"/>
            <a:ext cx="566928" cy="56692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48280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常听歌手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51755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这里的人的口味</a:t>
            </a:r>
            <a:endParaRPr lang="en-US" sz="1300" dirty="0"/>
          </a:p>
        </p:txBody>
      </p:sp>
      <p:pic>
        <p:nvPicPr>
          <p:cNvPr id="15" name="icon sparkles" descr="/tmp/deck-Dr25I3/ic_spark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4846320"/>
            <a:ext cx="566928" cy="56692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800600" y="48280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一句话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4800600" y="51755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数据变了才重写</a:t>
            </a:r>
            <a:endParaRPr lang="en-US" sz="1300" dirty="0"/>
          </a:p>
        </p:txBody>
      </p:sp>
      <p:pic>
        <p:nvPicPr>
          <p:cNvPr id="18" name="phone 13-live" descr="/tmp/deck-Dr25I3/ph_13-li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37360"/>
            <a:ext cx="2158443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只有到了现场才能完成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把线上音乐社交拉回真实世界</a:t>
            </a:r>
            <a:endParaRPr lang="en-US" sz="3400" dirty="0"/>
          </a:p>
        </p:txBody>
      </p:sp>
      <p:sp>
        <p:nvSpPr>
          <p:cNvPr id="4" name="moment card 声音漂流瓶"/>
          <p:cNvSpPr/>
          <p:nvPr/>
        </p:nvSpPr>
        <p:spPr>
          <a:xfrm>
            <a:off x="548640" y="1691640"/>
            <a:ext cx="3520440" cy="4434840"/>
          </a:xfrm>
          <a:prstGeom prst="roundRect">
            <a:avLst>
              <a:gd name="adj" fmla="val 4675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shot 12-throw" descr="/tmp/deck-Dr25I3/ph_12-th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125" y="1920240"/>
            <a:ext cx="1299471" cy="2697480"/>
          </a:xfrm>
          <a:prstGeom prst="rect">
            <a:avLst/>
          </a:prstGeom>
        </p:spPr>
      </p:pic>
      <p:pic>
        <p:nvPicPr>
          <p:cNvPr id="6" name="icon mail" descr="/tmp/deck-Dr25I3/ic_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7548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4800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声音漂流瓶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一首歌 + 一句话，只能在现场投；下一个来打卡的陌生人才能捡到。</a:t>
            </a:r>
            <a:endParaRPr lang="en-US" sz="1250" dirty="0"/>
          </a:p>
        </p:txBody>
      </p:sp>
      <p:sp>
        <p:nvSpPr>
          <p:cNvPr id="9" name="moment card 打卡"/>
          <p:cNvSpPr/>
          <p:nvPr/>
        </p:nvSpPr>
        <p:spPr>
          <a:xfrm>
            <a:off x="4297680" y="1691640"/>
            <a:ext cx="3520440" cy="4434840"/>
          </a:xfrm>
          <a:prstGeom prst="roundRect">
            <a:avLst>
              <a:gd name="adj" fmla="val 4675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0" name="shot 11-bottle" descr="/tmp/deck-Dr25I3/ph_11-bott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165" y="1920240"/>
            <a:ext cx="1299471" cy="2697480"/>
          </a:xfrm>
          <a:prstGeom prst="rect">
            <a:avLst/>
          </a:prstGeom>
        </p:spPr>
      </p:pic>
      <p:pic>
        <p:nvPicPr>
          <p:cNvPr id="11" name="icon flag" descr="/tmp/deck-Dr25I3/ic_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75488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166360" y="4800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打卡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457200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到了现场才能打卡：捡起漂流瓶、点亮足迹，也计入推荐权重。</a:t>
            </a:r>
            <a:endParaRPr lang="en-US" sz="1250" dirty="0"/>
          </a:p>
        </p:txBody>
      </p:sp>
      <p:sp>
        <p:nvSpPr>
          <p:cNvPr id="14" name="moment card 声音明信片"/>
          <p:cNvSpPr/>
          <p:nvPr/>
        </p:nvSpPr>
        <p:spPr>
          <a:xfrm>
            <a:off x="8046720" y="1691640"/>
            <a:ext cx="3520440" cy="4434840"/>
          </a:xfrm>
          <a:prstGeom prst="roundRect">
            <a:avLst>
              <a:gd name="adj" fmla="val 4675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5" name="shot 17-postcard-export" descr="/tmp/deck-Dr25I3/ph_17-postcard-expo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638" y="1920240"/>
            <a:ext cx="2058603" cy="2697480"/>
          </a:xfrm>
          <a:prstGeom prst="rect">
            <a:avLst/>
          </a:prstGeom>
        </p:spPr>
      </p:pic>
      <p:pic>
        <p:nvPicPr>
          <p:cNvPr id="16" name="icon image" descr="/tmp/deck-Dr25I3/ic_im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754880"/>
            <a:ext cx="457200" cy="4572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915400" y="4800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声音明信片</a:t>
            </a:r>
            <a:endParaRPr lang="en-US" sz="1800" dirty="0"/>
          </a:p>
        </p:txBody>
      </p:sp>
      <p:sp>
        <p:nvSpPr>
          <p:cNvPr id="18" name="Text 10"/>
          <p:cNvSpPr txBox="1"/>
          <p:nvPr/>
        </p:nvSpPr>
        <p:spPr>
          <a:xfrm>
            <a:off x="832104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地点图 + 歌 + AI 写的一句话，一键存图发朋友圈，把好奇的人带回现场。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AI 贯穿全链路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六处 AI，每一处都解决一个具体问题</a:t>
            </a:r>
            <a:endParaRPr lang="en-US" sz="3400" dirty="0"/>
          </a:p>
        </p:txBody>
      </p:sp>
      <p:sp>
        <p:nvSpPr>
          <p:cNvPr id="4" name="ai card 读懂此刻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8571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icon camera" descr="/tmp/deck-Dr25I3/ic_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读懂此刻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614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照片 + 心情 → 情绪坐标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“此刻的感觉”无法用规则表达</a:t>
            </a:r>
            <a:endParaRPr lang="en-US" sz="1200" dirty="0"/>
          </a:p>
        </p:txBody>
      </p:sp>
      <p:sp>
        <p:nvSpPr>
          <p:cNvPr id="9" name="ai card 推荐理由"/>
          <p:cNvSpPr/>
          <p:nvPr/>
        </p:nvSpPr>
        <p:spPr>
          <a:xfrm>
            <a:off x="4297680" y="1783080"/>
            <a:ext cx="3520440" cy="1920240"/>
          </a:xfrm>
          <a:prstGeom prst="roundRect">
            <a:avLst>
              <a:gd name="adj" fmla="val 8571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0" name="icon chat" descr="/tmp/deck-Dr25I3/ic_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574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推荐理由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7614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基于真实数据生成一句解释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让推荐可解释、可信</a:t>
            </a:r>
            <a:endParaRPr lang="en-US" sz="1200" dirty="0"/>
          </a:p>
        </p:txBody>
      </p:sp>
      <p:sp>
        <p:nvSpPr>
          <p:cNvPr id="14" name="ai card 冷启动"/>
          <p:cNvSpPr/>
          <p:nvPr/>
        </p:nvSpPr>
        <p:spPr>
          <a:xfrm>
            <a:off x="8046720" y="1783080"/>
            <a:ext cx="3520440" cy="1920240"/>
          </a:xfrm>
          <a:prstGeom prst="roundRect">
            <a:avLst>
              <a:gd name="adj" fmla="val 8571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5" name="icon snow" descr="/tmp/deck-Dr25I3/ic_sn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574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冷启动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7614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新地点由大模型补充推荐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地点类产品最难的一关</a:t>
            </a:r>
            <a:endParaRPr lang="en-US" sz="1200" dirty="0"/>
          </a:p>
        </p:txBody>
      </p:sp>
      <p:sp>
        <p:nvSpPr>
          <p:cNvPr id="19" name="ai card 声音画像"/>
          <p:cNvSpPr/>
          <p:nvPr/>
        </p:nvSpPr>
        <p:spPr>
          <a:xfrm>
            <a:off x="548640" y="3931920"/>
            <a:ext cx="3520440" cy="1920240"/>
          </a:xfrm>
          <a:prstGeom prst="roundRect">
            <a:avLst>
              <a:gd name="adj" fmla="val 8571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20" name="icon pulse" descr="/tmp/deck-Dr25I3/ic_pul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062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279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声音画像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10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统计数据 → 有温度的描述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303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让一个地方“有性格”</a:t>
            </a:r>
            <a:endParaRPr lang="en-US" sz="1200" dirty="0"/>
          </a:p>
        </p:txBody>
      </p:sp>
      <p:sp>
        <p:nvSpPr>
          <p:cNvPr id="24" name="ai card 帮我写"/>
          <p:cNvSpPr/>
          <p:nvPr/>
        </p:nvSpPr>
        <p:spPr>
          <a:xfrm>
            <a:off x="4297680" y="3931920"/>
            <a:ext cx="3520440" cy="1920240"/>
          </a:xfrm>
          <a:prstGeom prst="roundRect">
            <a:avLst>
              <a:gd name="adj" fmla="val 8571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25" name="icon pen" descr="/tmp/deck-Dr25I3/ic_p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0624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4279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帮我写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910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按地点与歌曲生成分享文案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303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降低 UGC 门槛</a:t>
            </a:r>
            <a:endParaRPr lang="en-US" sz="1200" dirty="0"/>
          </a:p>
        </p:txBody>
      </p:sp>
      <p:sp>
        <p:nvSpPr>
          <p:cNvPr id="29" name="ai card 内容审核"/>
          <p:cNvSpPr/>
          <p:nvPr/>
        </p:nvSpPr>
        <p:spPr>
          <a:xfrm>
            <a:off x="8046720" y="3931920"/>
            <a:ext cx="3520440" cy="1920240"/>
          </a:xfrm>
          <a:prstGeom prst="roundRect">
            <a:avLst>
              <a:gd name="adj" fmla="val 8571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30" name="icon shield" descr="/tmp/deck-Dr25I3/ic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206240"/>
            <a:ext cx="548640" cy="5486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6840" y="4279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内容审核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910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规则 + 大模型双重把关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303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社区安全，失败时放行不阻塞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默认接入腾讯混元（OpenAI 兼容接口，可替换）；未配置大模型时自动降级为本地规则引擎，并在界面如实标注。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完成度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不是概念稿，是能跑起来的产品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项后端自动化测试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16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步端到端测试，自动录制演示视频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 端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iOS / Android / Web 一套代码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 条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命令部署到 Linux 服务器</a:t>
            </a:r>
            <a:endParaRPr lang="en-US" sz="1300" dirty="0"/>
          </a:p>
        </p:txBody>
      </p:sp>
      <p:sp>
        <p:nvSpPr>
          <p:cNvPr id="12" name="arch 手机 App"/>
          <p:cNvSpPr/>
          <p:nvPr/>
        </p:nvSpPr>
        <p:spPr>
          <a:xfrm>
            <a:off x="548640" y="3840480"/>
            <a:ext cx="2514600" cy="1828800"/>
          </a:xfrm>
          <a:prstGeom prst="roundRect">
            <a:avLst>
              <a:gd name="adj" fmla="val 9000"/>
            </a:avLst>
          </a:prstGeom>
          <a:solidFill>
            <a:srgbClr val="D2F76A">
              <a:alpha val="12000"/>
            </a:srgbClr>
          </a:solidFill>
          <a:ln w="12700">
            <a:solidFill>
              <a:srgbClr val="D2F76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41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2F76A"/>
                </a:solidFill>
              </a:rPr>
              <a:t>手机 App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72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Expo · React Native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此刻 / 地点 / 听这里 / 分享 / 我的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526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arch API 服务"/>
          <p:cNvSpPr/>
          <p:nvPr/>
        </p:nvSpPr>
        <p:spPr>
          <a:xfrm>
            <a:off x="3383280" y="3840480"/>
            <a:ext cx="2514600" cy="1828800"/>
          </a:xfrm>
          <a:prstGeom prst="roundRect">
            <a:avLst>
              <a:gd name="adj" fmla="val 9000"/>
            </a:avLst>
          </a:prstGeom>
          <a:solidFill>
            <a:srgbClr val="3EE6C1">
              <a:alpha val="12000"/>
            </a:srgbClr>
          </a:solidFill>
          <a:ln w="12700">
            <a:solidFill>
              <a:srgbClr val="3EE6C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4041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EE6C1"/>
                </a:solidFill>
              </a:rPr>
              <a:t>API 服务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572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Fastify · SQLite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地点、歌单、权重、打卡、漂流瓶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4526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arch AI 层"/>
          <p:cNvSpPr/>
          <p:nvPr/>
        </p:nvSpPr>
        <p:spPr>
          <a:xfrm>
            <a:off x="6217920" y="3840480"/>
            <a:ext cx="2514600" cy="1828800"/>
          </a:xfrm>
          <a:prstGeom prst="roundRect">
            <a:avLst>
              <a:gd name="adj" fmla="val 9000"/>
            </a:avLst>
          </a:prstGeom>
          <a:solidFill>
            <a:srgbClr val="A08BFF">
              <a:alpha val="12000"/>
            </a:srgbClr>
          </a:solidFill>
          <a:ln w="12700">
            <a:solidFill>
              <a:srgbClr val="A08B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041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08BFF"/>
                </a:solidFill>
              </a:rPr>
              <a:t>AI 层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572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腾讯混元（文本 + 视觉）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本地规则引擎兜底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732520" y="4526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arch QQ 音乐"/>
          <p:cNvSpPr/>
          <p:nvPr/>
        </p:nvSpPr>
        <p:spPr>
          <a:xfrm>
            <a:off x="9052560" y="3840480"/>
            <a:ext cx="2514600" cy="1828800"/>
          </a:xfrm>
          <a:prstGeom prst="roundRect">
            <a:avLst>
              <a:gd name="adj" fmla="val 9000"/>
            </a:avLst>
          </a:prstGeom>
          <a:solidFill>
            <a:srgbClr val="5CC8FF">
              <a:alpha val="12000"/>
            </a:srgbClr>
          </a:solidFill>
          <a:ln w="12700">
            <a:solidFill>
              <a:srgbClr val="5CC8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4041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C8FF"/>
                </a:solidFill>
              </a:rPr>
              <a:t>QQ 音乐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4572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一键跳转播放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（规划：曲库与播放 SDK）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商业价值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一个新的推荐维度：在哪听</a:t>
            </a:r>
            <a:endParaRPr lang="en-US" sz="3400" dirty="0"/>
          </a:p>
        </p:txBody>
      </p:sp>
      <p:sp>
        <p:nvSpPr>
          <p:cNvPr id="4" name="biz card QQ 音乐 / TME"/>
          <p:cNvSpPr/>
          <p:nvPr/>
        </p:nvSpPr>
        <p:spPr>
          <a:xfrm>
            <a:off x="548640" y="1783080"/>
            <a:ext cx="5394960" cy="2011680"/>
          </a:xfrm>
          <a:prstGeom prst="roundRect">
            <a:avLst>
              <a:gd name="adj" fmla="val 8182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icon music" descr="/tmp/deck-Dr25I3/ic_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QQ 音乐 / TME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65176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新增“附近 · 此刻”入口：线下场景带来新的打开时机；明信片与漂流瓶形成社交裂变；播放全部导流到 QQ 音乐。</a:t>
            </a:r>
            <a:endParaRPr lang="en-US" sz="1400" dirty="0"/>
          </a:p>
        </p:txBody>
      </p:sp>
      <p:sp>
        <p:nvSpPr>
          <p:cNvPr id="8" name="biz card 文旅、商圈与门店"/>
          <p:cNvSpPr/>
          <p:nvPr/>
        </p:nvSpPr>
        <p:spPr>
          <a:xfrm>
            <a:off x="6172200" y="1783080"/>
            <a:ext cx="5394960" cy="2011680"/>
          </a:xfrm>
          <a:prstGeom prst="roundRect">
            <a:avLst>
              <a:gd name="adj" fmla="val 8182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9" name="icon business" descr="/tmp/deck-Dr25I3/ic_busin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574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文旅、商圈与门店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269480" y="265176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认领地点，发布官方“这里的声音”与店内 BGM；按热度曲线安排营销；地点画像就是一份声音版商圈报告。</a:t>
            </a:r>
            <a:endParaRPr lang="en-US" sz="1400" dirty="0"/>
          </a:p>
        </p:txBody>
      </p:sp>
      <p:sp>
        <p:nvSpPr>
          <p:cNvPr id="12" name="biz card 演出与音乐人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8182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3" name="icon mic" descr="/tmp/deck-Dr25I3/ic_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976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370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演出与音乐人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489204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livehouse 与街头艺人的“现场”歌单成为宣传渠道，衔接演出票务；独立音乐人把歌投放到合适的地点。</a:t>
            </a:r>
            <a:endParaRPr lang="en-US" sz="1400" dirty="0"/>
          </a:p>
        </p:txBody>
      </p:sp>
      <p:sp>
        <p:nvSpPr>
          <p:cNvPr id="16" name="biz card 独有数据资产"/>
          <p:cNvSpPr/>
          <p:nvPr/>
        </p:nvSpPr>
        <p:spPr>
          <a:xfrm>
            <a:off x="6172200" y="4023360"/>
            <a:ext cx="5394960" cy="2011680"/>
          </a:xfrm>
          <a:prstGeom prst="roundRect">
            <a:avLst>
              <a:gd name="adj" fmla="val 8182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7" name="icon data" descr="/tmp/deck-Dr25I3/ic_da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29768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9480" y="4370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独有数据资产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7269480" y="489204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“地点 × 时段 × 情绪 × 歌曲”的数据集，是现有平台没有的场景化推荐训练数据。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路线图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从一个 App，到 QQ 音乐里的一个入口</a:t>
            </a:r>
            <a:endParaRPr lang="en-US" sz="3400" dirty="0"/>
          </a:p>
        </p:txBody>
      </p:sp>
      <p:sp>
        <p:nvSpPr>
          <p:cNvPr id="4" name="timeline"/>
          <p:cNvSpPr/>
          <p:nvPr/>
        </p:nvSpPr>
        <p:spPr>
          <a:xfrm>
            <a:off x="822960" y="2148840"/>
            <a:ext cx="10607040" cy="0"/>
          </a:xfrm>
          <a:prstGeom prst="line">
            <a:avLst/>
          </a:prstGeom>
          <a:noFill/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dot 现在 · 已完成"/>
          <p:cNvSpPr/>
          <p:nvPr/>
        </p:nvSpPr>
        <p:spPr>
          <a:xfrm>
            <a:off x="685800" y="2011680"/>
            <a:ext cx="274320" cy="274320"/>
          </a:xfrm>
          <a:prstGeom prst="ellipse">
            <a:avLst/>
          </a:prstGeom>
          <a:solidFill>
            <a:srgbClr val="D2F76A"/>
          </a:solidFill>
          <a:ln w="12700">
            <a:solidFill>
              <a:srgbClr val="D2F7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2F76A"/>
                </a:solidFill>
              </a:rPr>
              <a:t>现在 · 已完成</a:t>
            </a:r>
            <a:endParaRPr lang="en-US" sz="1900" dirty="0"/>
          </a:p>
        </p:txBody>
      </p:sp>
      <p:sp>
        <p:nvSpPr>
          <p:cNvPr id="7" name="road card 现在 · 已完成"/>
          <p:cNvSpPr/>
          <p:nvPr/>
        </p:nvSpPr>
        <p:spPr>
          <a:xfrm>
            <a:off x="548640" y="3063240"/>
            <a:ext cx="3520440" cy="2240280"/>
          </a:xfrm>
          <a:prstGeom prst="roundRect">
            <a:avLst>
              <a:gd name="adj" fmla="val 7347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9184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三类地点歌单与推荐权重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读懂此刻 / 声音画像 / 帮我写 / 审核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漂流瓶、打卡、明信片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一键跳转 QQ 音乐</a:t>
            </a:r>
            <a:endParaRPr lang="en-US" sz="1400" dirty="0"/>
          </a:p>
        </p:txBody>
      </p:sp>
      <p:sp>
        <p:nvSpPr>
          <p:cNvPr id="9" name="dot 下一步 · 3 个月"/>
          <p:cNvSpPr/>
          <p:nvPr/>
        </p:nvSpPr>
        <p:spPr>
          <a:xfrm>
            <a:off x="4434840" y="2011680"/>
            <a:ext cx="274320" cy="274320"/>
          </a:xfrm>
          <a:prstGeom prst="ellipse">
            <a:avLst/>
          </a:prstGeom>
          <a:solidFill>
            <a:srgbClr val="3EE6C1"/>
          </a:solidFill>
          <a:ln w="12700">
            <a:solidFill>
              <a:srgbClr val="3EE6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EE6C1"/>
                </a:solidFill>
              </a:rPr>
              <a:t>下一步 · 3 个月</a:t>
            </a:r>
            <a:endParaRPr lang="en-US" sz="1900" dirty="0"/>
          </a:p>
        </p:txBody>
      </p:sp>
      <p:sp>
        <p:nvSpPr>
          <p:cNvPr id="11" name="road card 下一步 · 3 个月"/>
          <p:cNvSpPr/>
          <p:nvPr/>
        </p:nvSpPr>
        <p:spPr>
          <a:xfrm>
            <a:off x="4297680" y="3063240"/>
            <a:ext cx="3520440" cy="2240280"/>
          </a:xfrm>
          <a:prstGeom prst="roundRect">
            <a:avLst>
              <a:gd name="adj" fmla="val 7347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329184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接入 QQ 音乐曲库与播放 SDK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听歌识曲自动记录“现场”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在 2–3 个城市街区试点</a:t>
            </a:r>
            <a:endParaRPr lang="en-US" sz="1400" dirty="0"/>
          </a:p>
        </p:txBody>
      </p:sp>
      <p:sp>
        <p:nvSpPr>
          <p:cNvPr id="13" name="dot 之后 · 6–12 个月"/>
          <p:cNvSpPr/>
          <p:nvPr/>
        </p:nvSpPr>
        <p:spPr>
          <a:xfrm>
            <a:off x="8183880" y="2011680"/>
            <a:ext cx="274320" cy="274320"/>
          </a:xfrm>
          <a:prstGeom prst="ellipse">
            <a:avLst/>
          </a:prstGeom>
          <a:solidFill>
            <a:srgbClr val="A08BFF"/>
          </a:solidFill>
          <a:ln w="12700">
            <a:solidFill>
              <a:srgbClr val="A08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08BFF"/>
                </a:solidFill>
              </a:rPr>
              <a:t>之后 · 6–12 个月</a:t>
            </a:r>
            <a:endParaRPr lang="en-US" sz="1900" dirty="0"/>
          </a:p>
        </p:txBody>
      </p:sp>
      <p:sp>
        <p:nvSpPr>
          <p:cNvPr id="15" name="road card 之后 · 6–12 个月"/>
          <p:cNvSpPr/>
          <p:nvPr/>
        </p:nvSpPr>
        <p:spPr>
          <a:xfrm>
            <a:off x="8046720" y="3063240"/>
            <a:ext cx="3520440" cy="2240280"/>
          </a:xfrm>
          <a:prstGeom prst="roundRect">
            <a:avLst>
              <a:gd name="adj" fmla="val 7347"/>
            </a:avLst>
          </a:prstGeom>
          <a:solidFill>
            <a:srgbClr val="12151D">
              <a:alpha val="8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329184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商家 / 景区认领后台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演出排期与票务联动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城市声音地图与年度报告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目标：成为 QQ 音乐里的「附近 · 此刻」入口，让每一次出门都有一首对的歌。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chemeClr val="accent1"/>
                </a:solidFill>
              </a:rPr>
              <a:t>每个地方，</a:t>
            </a:r>
            <a:endParaRPr lang="en-US" sz="5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chemeClr val="accent1"/>
                </a:solidFill>
              </a:rPr>
              <a:t>都有它的背景音乐。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此地有歌 —— 让下一个路过的人，听见你在这里听见的。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谢谢 · 【队长姓名】</a:t>
            </a:r>
            <a:endParaRPr lang="en-US" sz="1800" dirty="0"/>
          </a:p>
        </p:txBody>
      </p:sp>
      <p:pic>
        <p:nvPicPr>
          <p:cNvPr id="5" name="phone 06-scene-picks" descr="/tmp/deck-Dr25I3/ph_06-scene-pi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822960"/>
            <a:ext cx="2510842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此地有歌 · 城市夜色">
  <a:themeElements>
    <a:clrScheme name="此地有歌 · 城市夜色">
      <a:dk1>
        <a:srgbClr val="F4F5F7"/>
      </a:dk1>
      <a:lt1>
        <a:srgbClr val="07080C"/>
      </a:lt1>
      <a:dk2>
        <a:srgbClr val="A7ACB9"/>
      </a:dk2>
      <a:lt2>
        <a:srgbClr val="12151D"/>
      </a:lt2>
      <a:accent1>
        <a:srgbClr val="D2F76A"/>
      </a:accent1>
      <a:accent2>
        <a:srgbClr val="3EE6C1"/>
      </a:accent2>
      <a:accent3>
        <a:srgbClr val="5CC8FF"/>
      </a:accent3>
      <a:accent4>
        <a:srgbClr val="FF8A5B"/>
      </a:accent4>
      <a:accent5>
        <a:srgbClr val="A08BFF"/>
      </a:accent5>
      <a:accent6>
        <a:srgbClr val="FF7AC6"/>
      </a:accent6>
      <a:hlink>
        <a:srgbClr val="3EE6C1"/>
      </a:hlink>
      <a:folHlink>
        <a:srgbClr val="A08BFF"/>
      </a:folHlink>
    </a:clrScheme>
    <a:fontScheme name="此地有歌 · 城市夜色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此地有歌 · 路演</dc:title>
  <dc:subject>PptxGenJS Presentation</dc:subject>
  <dc:creator>【队长姓名】</dc:creator>
  <cp:lastModifiedBy>【队长姓名】</cp:lastModifiedBy>
  <cp:revision>1</cp:revision>
  <dcterms:created xsi:type="dcterms:W3CDTF">2026-10-02T17:22:41Z</dcterms:created>
  <dcterms:modified xsi:type="dcterms:W3CDTF">2026-10-02T17:22:41Z</dcterms:modified>
</cp:coreProperties>
</file>